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72" r:id="rId7"/>
    <p:sldId id="261" r:id="rId8"/>
    <p:sldId id="273" r:id="rId9"/>
    <p:sldId id="262" r:id="rId10"/>
    <p:sldId id="263" r:id="rId11"/>
    <p:sldId id="264" r:id="rId12"/>
    <p:sldId id="274" r:id="rId13"/>
    <p:sldId id="275" r:id="rId14"/>
    <p:sldId id="266" r:id="rId15"/>
    <p:sldId id="267" r:id="rId16"/>
    <p:sldId id="276" r:id="rId17"/>
    <p:sldId id="268" r:id="rId18"/>
    <p:sldId id="269" r:id="rId19"/>
    <p:sldId id="270" r:id="rId20"/>
    <p:sldId id="271"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73" autoAdjust="0"/>
    <p:restoredTop sz="94610"/>
  </p:normalViewPr>
  <p:slideViewPr>
    <p:cSldViewPr snapToGrid="0" snapToObjects="1">
      <p:cViewPr>
        <p:scale>
          <a:sx n="66" d="100"/>
          <a:sy n="66" d="100"/>
        </p:scale>
        <p:origin x="134"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767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presenting our clustering assignment on Parkinson's voice measurements. This is a group project — Rakshan covered K-Means and PCA, and Bhaveen handled Hierarchical Clustering. We used a single shared Orange Canvas workflow so all three methods were applied to the same processed dataset.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was to find whether voice recordings alone naturally separate into meaningful groups. We used three methods: K-Means, PCA for visualization, and Hierarchical Clustering. The critical constraint across all three: UPDRS severity scores were never fed into the models. We only checked UPDRS afterward to see if our clusters aligned with clinical severity.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the dataset. 5,875 rows, 42 patients, recorded remotely over time. One important point we updated from our earlier approach: instead of fully excluding subject ID, age, sex, test_time, and UPDRS, we kept them as Meta variables in Orange. This means the clustering algorithm never sees them, but they stay attached to each row so we can pull them up afterward in box plots and tables without any extra steps.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16 voice features as clustering inputs. Jitter and Shimmer capture pitch and amplitude instability. NHR and HNR measure noise vs. harmonic content — basically how clean or noisy the voice is. RPDE, DFA, and PPE are nonlinear measures of voice complexity. The six non-voice columns — patient ID, age, sex, time, and both UPDRS scores — were set as Meta variables in Orange's Select Columns widget. They're invisible to the clustering, but they travel with each data row so we can reference them afterward.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master Orange Canvas workflow. Everything flows through a shared preprocessing path: load the file, select the 16 voice features as inputs with the other columns as Meta, standardize in Preprocess, then sample down to 4,000 rows in Data Sampler. From that single sampled output, we branch into three analysis paths: K-Means for partition clustering, PCA for visualizing structure in the data, and Hierarchical Clustering for an agglomerative view. Using one shared path means all three methods see exactly the same processed data — so results are directly comparable.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preprocessing steps, all standard. First, load the data. Second, Select Columns to route voice features as inputs and everything else as Meta. Third, standardize — this is non-negotiable for K-Means and distance-based methods; without it, large-scale features like HNR dominate. Fourth, sample to 4,000 rows because of Orange's silhouette limit. We used a fixed random seed so anyone running our workflow gets the same 4,000 rows.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is partition-based — you tell it how many clusters you want, and it optimizes placement. The challenge is choosing k. We used silhouette scores. We tested k = 2 to 6. A silhouette score near 1 means clusters are tight and well-separated. Near 0 means overlap. Below 0 means misassignment. Next slide shows the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silhouette results were very clear. k = 2 scored 0.746 — strong, well-separated clusters. k = 3 dropped to 0.366. k = 4 and 5 dropped further. There's a tiny uptick at k = 6 but nowhere near k = 2. We selected 2 clusters. The data is clearly telling us two groups is the natural structure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shows every sign of acoustic instability: higher pitch variation, higher amplitude variation, more noise, lower clarity. C2 is the opposite: stable, clean, clear voice. These interpretations came entirely from box plots for each voice feature — no UPDRS involved. Next we check whether these acoustic clusters actually correlate with symptom severity.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is not a clustering method — it's a visualization tool. We used it to check whether the structure K-Means found actually shows up visually. The first two principal components together explain about 80.8% of the variance in the 16 voice features. That's a strong result — it means most of the information in our 16-dimensional data can be represented in two dimensions. When we colour the PCA scatter plot by K-Means cluster labels, we can visually see how well-separated the clusters are. Strong visual separation in the PCA plot supports our k = 2 choice.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clustering takes a different approach. Instead of requiring k upfront, it builds a tree of merges. In Orange, the workflow is: Data Sampler → Distances widget → Hierarchical Clustering → Data Table and Box Plot. The dendrogram shows where natural cuts exist in the data. Our hierarchical analysis also supported a small number of dominant groupings — consistent with the K-Means finding of two clusters. This cross-validation between methods strengthens the conclusion that two acoustic profiles exist in the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combined picture. K-Means found 2 optimal clusters with a silhouette of 0.746. PCA showed that the first two components explain 80.8% of variance, and the scatter plot visually confirms the separation. Hierarchical clustering's dendrogram also pointed to a small number of dominant groups, consistent with 2. Three different methods, all pointing to the same answer — that's a strong result.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 found two acoustic profiles across all three methods. C1 — higher acoustic impairment, more noise and instability, higher UPDRS on average. C2 — lower impairment, stable clean voice, lower UPDRS. PCA supports this with 80.8% variance in two components. Hierarchical clustering aligns with k = 2. Voice data alone was enough to surface these patterns — no clinical labels needed.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honest limitations. Repeated measures means patient identity could be driving some cluster structure. Sampling introduces minor variability. k = 2 is a simplification of a continuous spectrum. And UPDRS correlations aren't causal. Future work: aggregate to patient level, try DBSCAN which doesn't need k, track clusters over time, and examine PCA loadings to see which features drive PC1.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listed here. Added a PCA reference — Jolliffe 2002 is the standard citation for Principal Component Analysis. All other citations remain the same as before.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7E8C"/>
          </a:solidFill>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Graduate Clustering Assignment</a:t>
            </a:r>
            <a:endParaRPr lang="en-US" sz="1300" dirty="0"/>
          </a:p>
        </p:txBody>
      </p:sp>
      <p:sp>
        <p:nvSpPr>
          <p:cNvPr id="4" name="Text 2"/>
          <p:cNvSpPr/>
          <p:nvPr/>
        </p:nvSpPr>
        <p:spPr>
          <a:xfrm>
            <a:off x="457200" y="1234440"/>
            <a:ext cx="8229600" cy="17373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Clustering Parkinson's</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Telemonitoring Voice Measurements</a:t>
            </a:r>
            <a:endParaRPr lang="en-US" sz="3400" dirty="0"/>
          </a:p>
        </p:txBody>
      </p:sp>
      <p:sp>
        <p:nvSpPr>
          <p:cNvPr id="5" name="Text 3"/>
          <p:cNvSpPr/>
          <p:nvPr/>
        </p:nvSpPr>
        <p:spPr>
          <a:xfrm>
            <a:off x="457200" y="2834640"/>
            <a:ext cx="8229600" cy="457200"/>
          </a:xfrm>
          <a:prstGeom prst="rect">
            <a:avLst/>
          </a:prstGeom>
          <a:noFill/>
          <a:ln/>
        </p:spPr>
        <p:txBody>
          <a:bodyPr wrap="square" rtlCol="0" anchor="ctr"/>
          <a:lstStyle/>
          <a:p>
            <a:pPr marL="0" indent="0" algn="ctr">
              <a:buNone/>
            </a:pPr>
            <a:r>
              <a:rPr lang="en-US" sz="2000" i="1" dirty="0">
                <a:solidFill>
                  <a:srgbClr val="D4F1F4"/>
                </a:solidFill>
                <a:latin typeface="Calibri" pitchFamily="34" charset="0"/>
                <a:ea typeface="Calibri" pitchFamily="34" charset="-122"/>
                <a:cs typeface="Calibri" pitchFamily="34" charset="-120"/>
              </a:rPr>
              <a:t>Using Orange Canvas</a:t>
            </a:r>
            <a:endParaRPr lang="en-US" sz="2000" dirty="0"/>
          </a:p>
        </p:txBody>
      </p:sp>
      <p:sp>
        <p:nvSpPr>
          <p:cNvPr id="6" name="Shape 4"/>
          <p:cNvSpPr/>
          <p:nvPr/>
        </p:nvSpPr>
        <p:spPr>
          <a:xfrm>
            <a:off x="2286000" y="3401568"/>
            <a:ext cx="4572000" cy="0"/>
          </a:xfrm>
          <a:prstGeom prst="line">
            <a:avLst/>
          </a:prstGeom>
          <a:noFill/>
          <a:ln w="19050">
            <a:solidFill>
              <a:srgbClr val="0D9CA8"/>
            </a:solidFill>
            <a:prstDash val="solid"/>
          </a:ln>
        </p:spPr>
        <p:txBody>
          <a:bodyPr/>
          <a:lstStyle/>
          <a:p>
            <a:endParaRPr lang="en-US"/>
          </a:p>
        </p:txBody>
      </p:sp>
      <p:sp>
        <p:nvSpPr>
          <p:cNvPr id="7" name="Text 5"/>
          <p:cNvSpPr/>
          <p:nvPr/>
        </p:nvSpPr>
        <p:spPr>
          <a:xfrm>
            <a:off x="457200" y="3611880"/>
            <a:ext cx="8229600" cy="365760"/>
          </a:xfrm>
          <a:prstGeom prst="rect">
            <a:avLst/>
          </a:prstGeom>
          <a:noFill/>
          <a:ln/>
        </p:spPr>
        <p:txBody>
          <a:bodyPr wrap="square" rtlCol="0" anchor="ctr"/>
          <a:lstStyle/>
          <a:p>
            <a:pPr marL="0" indent="0" algn="ctr">
              <a:buNone/>
            </a:pPr>
            <a:r>
              <a:rPr lang="en-US" sz="1400" dirty="0">
                <a:solidFill>
                  <a:srgbClr val="D4F1F4"/>
                </a:solidFill>
                <a:latin typeface="Calibri" pitchFamily="34" charset="0"/>
                <a:ea typeface="Calibri" pitchFamily="34" charset="-122"/>
                <a:cs typeface="Calibri" pitchFamily="34" charset="-120"/>
              </a:rPr>
              <a:t>Rakshan Urooj Syed  ·  Bhaveen Mehta</a:t>
            </a:r>
            <a:endParaRPr lang="en-US" sz="1400" dirty="0"/>
          </a:p>
        </p:txBody>
      </p:sp>
      <p:sp>
        <p:nvSpPr>
          <p:cNvPr id="8" name="Text 6"/>
          <p:cNvSpPr/>
          <p:nvPr/>
        </p:nvSpPr>
        <p:spPr>
          <a:xfrm>
            <a:off x="457200" y="4114800"/>
            <a:ext cx="8229600" cy="32004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UCI ML Repository  ·  Parkinson's Telemonitoring Dataset</a:t>
            </a:r>
            <a:endParaRPr lang="en-US" sz="1100" dirty="0"/>
          </a:p>
        </p:txBody>
      </p:sp>
      <p:sp>
        <p:nvSpPr>
          <p:cNvPr id="9" name="Shape 7"/>
          <p:cNvSpPr/>
          <p:nvPr/>
        </p:nvSpPr>
        <p:spPr>
          <a:xfrm>
            <a:off x="0" y="4800600"/>
            <a:ext cx="9144000" cy="342900"/>
          </a:xfrm>
          <a:prstGeom prst="rect">
            <a:avLst/>
          </a:prstGeom>
          <a:solidFill>
            <a:srgbClr val="0A7E8C"/>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19456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194560" cy="274320"/>
          </a:xfrm>
          <a:prstGeom prst="rect">
            <a:avLst/>
          </a:prstGeom>
          <a:noFill/>
          <a:ln/>
        </p:spPr>
        <p:txBody>
          <a:bodyPr wrap="square" lIns="0" tIns="0" rIns="0" bIns="0" rtlCol="0" anchor="ctr"/>
          <a:lstStyle/>
          <a:p>
            <a:pPr marL="0" indent="0" algn="ctr">
              <a:buNone/>
            </a:pPr>
            <a:r>
              <a:rPr lang="en-US" sz="900" b="1" dirty="0">
                <a:solidFill>
                  <a:srgbClr val="0A7E8C"/>
                </a:solidFill>
              </a:rPr>
              <a:t>OVERVIEW</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Assignment Goal &amp; Research Question</a:t>
            </a:r>
            <a:endParaRPr lang="en-US" sz="2200" dirty="0"/>
          </a:p>
        </p:txBody>
      </p:sp>
      <p:sp>
        <p:nvSpPr>
          <p:cNvPr id="5" name="Shape 3"/>
          <p:cNvSpPr/>
          <p:nvPr/>
        </p:nvSpPr>
        <p:spPr>
          <a:xfrm>
            <a:off x="457200" y="1024128"/>
            <a:ext cx="8229600" cy="1005840"/>
          </a:xfrm>
          <a:prstGeom prst="roundRect">
            <a:avLst>
              <a:gd name="adj" fmla="val 10909"/>
            </a:avLst>
          </a:prstGeom>
          <a:solidFill>
            <a:srgbClr val="0D1F3C"/>
          </a:solidFill>
          <a:ln/>
          <a:effectLst>
            <a:outerShdw blurRad="101600" dist="38100" dir="2700000" algn="bl" rotWithShape="0">
              <a:srgbClr val="000000">
                <a:alpha val="13000"/>
              </a:srgbClr>
            </a:outerShdw>
          </a:effectLst>
        </p:spPr>
        <p:txBody>
          <a:bodyPr/>
          <a:lstStyle/>
          <a:p>
            <a:endParaRPr lang="en-US"/>
          </a:p>
        </p:txBody>
      </p:sp>
      <p:sp>
        <p:nvSpPr>
          <p:cNvPr id="6" name="Text 4"/>
          <p:cNvSpPr/>
          <p:nvPr/>
        </p:nvSpPr>
        <p:spPr>
          <a:xfrm>
            <a:off x="731520" y="1078992"/>
            <a:ext cx="7680960" cy="274320"/>
          </a:xfrm>
          <a:prstGeom prst="rect">
            <a:avLst/>
          </a:prstGeom>
          <a:noFill/>
          <a:ln/>
        </p:spPr>
        <p:txBody>
          <a:bodyPr wrap="square" rtlCol="0" anchor="ctr"/>
          <a:lstStyle/>
          <a:p>
            <a:pPr marL="0" indent="0">
              <a:buNone/>
            </a:pPr>
            <a:r>
              <a:rPr lang="en-US" sz="1200" b="1" dirty="0">
                <a:solidFill>
                  <a:srgbClr val="D4F1F4"/>
                </a:solidFill>
                <a:latin typeface="Calibri" pitchFamily="34" charset="0"/>
                <a:ea typeface="Calibri" pitchFamily="34" charset="-122"/>
                <a:cs typeface="Calibri" pitchFamily="34" charset="-120"/>
              </a:rPr>
              <a:t>🎯  Assignment Goal</a:t>
            </a:r>
            <a:endParaRPr lang="en-US" sz="1200" dirty="0"/>
          </a:p>
        </p:txBody>
      </p:sp>
      <p:sp>
        <p:nvSpPr>
          <p:cNvPr id="7" name="Text 5"/>
          <p:cNvSpPr/>
          <p:nvPr/>
        </p:nvSpPr>
        <p:spPr>
          <a:xfrm>
            <a:off x="731520" y="1371600"/>
            <a:ext cx="7680960" cy="54864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Apply unsupervised clustering to biomedical voice data to discover natural acoustic groupings — without using any clinical severity scores as input.</a:t>
            </a:r>
            <a:endParaRPr lang="en-US" sz="1300" dirty="0"/>
          </a:p>
        </p:txBody>
      </p:sp>
      <p:sp>
        <p:nvSpPr>
          <p:cNvPr id="8" name="Shape 6"/>
          <p:cNvSpPr/>
          <p:nvPr/>
        </p:nvSpPr>
        <p:spPr>
          <a:xfrm>
            <a:off x="457200" y="2176272"/>
            <a:ext cx="8229600" cy="1325880"/>
          </a:xfrm>
          <a:prstGeom prst="roundRect">
            <a:avLst>
              <a:gd name="adj" fmla="val 8276"/>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9" name="Text 7"/>
          <p:cNvSpPr/>
          <p:nvPr/>
        </p:nvSpPr>
        <p:spPr>
          <a:xfrm>
            <a:off x="731520" y="2267712"/>
            <a:ext cx="7680960" cy="274320"/>
          </a:xfrm>
          <a:prstGeom prst="rect">
            <a:avLst/>
          </a:prstGeom>
          <a:noFill/>
          <a:ln/>
        </p:spPr>
        <p:txBody>
          <a:bodyPr wrap="square"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  Main Research Question</a:t>
            </a:r>
            <a:endParaRPr lang="en-US" sz="1200" dirty="0"/>
          </a:p>
        </p:txBody>
      </p:sp>
      <p:sp>
        <p:nvSpPr>
          <p:cNvPr id="10" name="Text 8"/>
          <p:cNvSpPr/>
          <p:nvPr/>
        </p:nvSpPr>
        <p:spPr>
          <a:xfrm>
            <a:off x="731520" y="2578608"/>
            <a:ext cx="7680960" cy="822960"/>
          </a:xfrm>
          <a:prstGeom prst="rect">
            <a:avLst/>
          </a:prstGeom>
          <a:noFill/>
          <a:ln/>
        </p:spPr>
        <p:txBody>
          <a:bodyPr wrap="square" rtlCol="0" anchor="t"/>
          <a:lstStyle/>
          <a:p>
            <a:pPr marL="0" indent="0">
              <a:buNone/>
            </a:pPr>
            <a:r>
              <a:rPr lang="en-US" sz="1400" i="1" dirty="0">
                <a:solidFill>
                  <a:srgbClr val="1E293B"/>
                </a:solidFill>
                <a:latin typeface="Cambria" pitchFamily="34" charset="0"/>
                <a:ea typeface="Cambria" pitchFamily="34" charset="-122"/>
                <a:cs typeface="Cambria" pitchFamily="34" charset="-120"/>
              </a:rPr>
              <a:t>Can biomedical voice measurements from Parkinson's telemonitoring data be clustered into distinct acoustic profiles; and do those clusters show differences in UPDRS symptom severity scores?</a:t>
            </a:r>
            <a:endParaRPr lang="en-US" sz="1400" dirty="0"/>
          </a:p>
        </p:txBody>
      </p:sp>
      <p:sp>
        <p:nvSpPr>
          <p:cNvPr id="11" name="Shape 9"/>
          <p:cNvSpPr/>
          <p:nvPr/>
        </p:nvSpPr>
        <p:spPr>
          <a:xfrm>
            <a:off x="457200" y="3657600"/>
            <a:ext cx="2606040" cy="1097280"/>
          </a:xfrm>
          <a:prstGeom prst="roundRect">
            <a:avLst>
              <a:gd name="adj" fmla="val 8333"/>
            </a:avLst>
          </a:prstGeom>
          <a:solidFill>
            <a:srgbClr val="0A7E8C"/>
          </a:solidFill>
          <a:ln/>
          <a:effectLst>
            <a:outerShdw blurRad="76200" dist="25400" dir="2700000" algn="bl" rotWithShape="0">
              <a:srgbClr val="000000">
                <a:alpha val="12000"/>
              </a:srgbClr>
            </a:outerShdw>
          </a:effectLst>
        </p:spPr>
        <p:txBody>
          <a:bodyPr/>
          <a:lstStyle/>
          <a:p>
            <a:endParaRPr lang="en-US"/>
          </a:p>
        </p:txBody>
      </p:sp>
      <p:sp>
        <p:nvSpPr>
          <p:cNvPr id="12" name="Text 10"/>
          <p:cNvSpPr/>
          <p:nvPr/>
        </p:nvSpPr>
        <p:spPr>
          <a:xfrm>
            <a:off x="457200" y="3767328"/>
            <a:ext cx="26060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K-Means</a:t>
            </a:r>
            <a:endParaRPr lang="en-US" sz="1300" dirty="0"/>
          </a:p>
        </p:txBody>
      </p:sp>
      <p:sp>
        <p:nvSpPr>
          <p:cNvPr id="13" name="Text 11"/>
          <p:cNvSpPr/>
          <p:nvPr/>
        </p:nvSpPr>
        <p:spPr>
          <a:xfrm>
            <a:off x="457200" y="4206240"/>
            <a:ext cx="2606040" cy="274320"/>
          </a:xfrm>
          <a:prstGeom prst="rect">
            <a:avLst/>
          </a:prstGeom>
          <a:noFill/>
          <a:ln/>
        </p:spPr>
        <p:txBody>
          <a:bodyPr wrap="square" rtlCol="0" anchor="ctr"/>
          <a:lstStyle/>
          <a:p>
            <a:pPr marL="0" indent="0" algn="ctr">
              <a:buNone/>
            </a:pPr>
            <a:r>
              <a:rPr lang="en-US" sz="1100" dirty="0">
                <a:solidFill>
                  <a:srgbClr val="CCDDEE"/>
                </a:solidFill>
                <a:latin typeface="Calibri" pitchFamily="34" charset="0"/>
                <a:ea typeface="Calibri" pitchFamily="34" charset="-122"/>
                <a:cs typeface="Calibri" pitchFamily="34" charset="-120"/>
              </a:rPr>
              <a:t>Rakshan</a:t>
            </a:r>
            <a:endParaRPr lang="en-US" sz="1100" dirty="0"/>
          </a:p>
        </p:txBody>
      </p:sp>
      <p:sp>
        <p:nvSpPr>
          <p:cNvPr id="14" name="Shape 12"/>
          <p:cNvSpPr/>
          <p:nvPr/>
        </p:nvSpPr>
        <p:spPr>
          <a:xfrm>
            <a:off x="3246120" y="3657600"/>
            <a:ext cx="2606040" cy="1097280"/>
          </a:xfrm>
          <a:prstGeom prst="roundRect">
            <a:avLst>
              <a:gd name="adj" fmla="val 8333"/>
            </a:avLst>
          </a:prstGeom>
          <a:solidFill>
            <a:srgbClr val="6B3FA0"/>
          </a:solidFill>
          <a:ln/>
          <a:effectLst>
            <a:outerShdw blurRad="76200" dist="25400" dir="2700000" algn="bl" rotWithShape="0">
              <a:srgbClr val="000000">
                <a:alpha val="12000"/>
              </a:srgbClr>
            </a:outerShdw>
          </a:effectLst>
        </p:spPr>
        <p:txBody>
          <a:bodyPr/>
          <a:lstStyle/>
          <a:p>
            <a:endParaRPr lang="en-US"/>
          </a:p>
        </p:txBody>
      </p:sp>
      <p:sp>
        <p:nvSpPr>
          <p:cNvPr id="15" name="Text 13"/>
          <p:cNvSpPr/>
          <p:nvPr/>
        </p:nvSpPr>
        <p:spPr>
          <a:xfrm>
            <a:off x="3246120" y="3767328"/>
            <a:ext cx="26060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PCA Visualization</a:t>
            </a:r>
            <a:endParaRPr lang="en-US" sz="1300" dirty="0"/>
          </a:p>
        </p:txBody>
      </p:sp>
      <p:sp>
        <p:nvSpPr>
          <p:cNvPr id="16" name="Text 14"/>
          <p:cNvSpPr/>
          <p:nvPr/>
        </p:nvSpPr>
        <p:spPr>
          <a:xfrm>
            <a:off x="3246120" y="4206240"/>
            <a:ext cx="2606040" cy="274320"/>
          </a:xfrm>
          <a:prstGeom prst="rect">
            <a:avLst/>
          </a:prstGeom>
          <a:noFill/>
          <a:ln/>
        </p:spPr>
        <p:txBody>
          <a:bodyPr wrap="square" rtlCol="0" anchor="ctr"/>
          <a:lstStyle/>
          <a:p>
            <a:pPr marL="0" indent="0" algn="ctr">
              <a:buNone/>
            </a:pPr>
            <a:r>
              <a:rPr lang="en-US" sz="1100" dirty="0">
                <a:solidFill>
                  <a:srgbClr val="CCDDEE"/>
                </a:solidFill>
                <a:latin typeface="Calibri" pitchFamily="34" charset="0"/>
                <a:ea typeface="Calibri" pitchFamily="34" charset="-122"/>
                <a:cs typeface="Calibri" pitchFamily="34" charset="-120"/>
              </a:rPr>
              <a:t>Rakshan</a:t>
            </a:r>
            <a:endParaRPr lang="en-US" sz="1100" dirty="0"/>
          </a:p>
        </p:txBody>
      </p:sp>
      <p:sp>
        <p:nvSpPr>
          <p:cNvPr id="17" name="Shape 15"/>
          <p:cNvSpPr/>
          <p:nvPr/>
        </p:nvSpPr>
        <p:spPr>
          <a:xfrm>
            <a:off x="6035040" y="3657600"/>
            <a:ext cx="2606040" cy="1097280"/>
          </a:xfrm>
          <a:prstGeom prst="roundRect">
            <a:avLst>
              <a:gd name="adj" fmla="val 8333"/>
            </a:avLst>
          </a:prstGeom>
          <a:solidFill>
            <a:srgbClr val="0D1F3C"/>
          </a:solidFill>
          <a:ln/>
          <a:effectLst>
            <a:outerShdw blurRad="76200" dist="25400" dir="2700000" algn="bl" rotWithShape="0">
              <a:srgbClr val="000000">
                <a:alpha val="12000"/>
              </a:srgbClr>
            </a:outerShdw>
          </a:effectLst>
        </p:spPr>
        <p:txBody>
          <a:bodyPr/>
          <a:lstStyle/>
          <a:p>
            <a:endParaRPr lang="en-US"/>
          </a:p>
        </p:txBody>
      </p:sp>
      <p:sp>
        <p:nvSpPr>
          <p:cNvPr id="18" name="Text 16"/>
          <p:cNvSpPr/>
          <p:nvPr/>
        </p:nvSpPr>
        <p:spPr>
          <a:xfrm>
            <a:off x="6035040" y="3767328"/>
            <a:ext cx="26060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Hierarchical Clustering</a:t>
            </a:r>
            <a:endParaRPr lang="en-US" sz="1300" dirty="0"/>
          </a:p>
        </p:txBody>
      </p:sp>
      <p:sp>
        <p:nvSpPr>
          <p:cNvPr id="19" name="Text 17"/>
          <p:cNvSpPr/>
          <p:nvPr/>
        </p:nvSpPr>
        <p:spPr>
          <a:xfrm>
            <a:off x="6035040" y="4206240"/>
            <a:ext cx="2606040" cy="274320"/>
          </a:xfrm>
          <a:prstGeom prst="rect">
            <a:avLst/>
          </a:prstGeom>
          <a:noFill/>
          <a:ln/>
        </p:spPr>
        <p:txBody>
          <a:bodyPr wrap="square" rtlCol="0" anchor="ctr"/>
          <a:lstStyle/>
          <a:p>
            <a:pPr marL="0" indent="0" algn="ctr">
              <a:buNone/>
            </a:pPr>
            <a:r>
              <a:rPr lang="en-US" sz="1100" dirty="0">
                <a:solidFill>
                  <a:srgbClr val="CCDDEE"/>
                </a:solidFill>
                <a:latin typeface="Calibri" pitchFamily="34" charset="0"/>
                <a:ea typeface="Calibri" pitchFamily="34" charset="-122"/>
                <a:cs typeface="Calibri" pitchFamily="34" charset="-120"/>
              </a:rPr>
              <a:t>Bhaveen</a:t>
            </a:r>
            <a:endParaRPr lang="en-US" sz="1100" dirty="0"/>
          </a:p>
        </p:txBody>
      </p:sp>
      <p:sp>
        <p:nvSpPr>
          <p:cNvPr id="20" name="Shape 18"/>
          <p:cNvSpPr/>
          <p:nvPr/>
        </p:nvSpPr>
        <p:spPr>
          <a:xfrm>
            <a:off x="457200" y="4864608"/>
            <a:ext cx="8229600" cy="347472"/>
          </a:xfrm>
          <a:prstGeom prst="roundRect">
            <a:avLst>
              <a:gd name="adj" fmla="val 18421"/>
            </a:avLst>
          </a:prstGeom>
          <a:solidFill>
            <a:srgbClr val="D4F1F4"/>
          </a:solidFill>
          <a:ln/>
        </p:spPr>
        <p:txBody>
          <a:bodyPr/>
          <a:lstStyle/>
          <a:p>
            <a:endParaRPr lang="en-US"/>
          </a:p>
        </p:txBody>
      </p:sp>
      <p:sp>
        <p:nvSpPr>
          <p:cNvPr id="21" name="Text 19"/>
          <p:cNvSpPr/>
          <p:nvPr/>
        </p:nvSpPr>
        <p:spPr>
          <a:xfrm>
            <a:off x="594360" y="4864608"/>
            <a:ext cx="7955280" cy="347472"/>
          </a:xfrm>
          <a:prstGeom prst="rect">
            <a:avLst/>
          </a:prstGeom>
          <a:noFill/>
          <a:ln/>
        </p:spPr>
        <p:txBody>
          <a:bodyPr wrap="square" rtlCol="0" anchor="ctr"/>
          <a:lstStyle/>
          <a:p>
            <a:pPr marL="0" indent="0">
              <a:buNone/>
            </a:pPr>
            <a:r>
              <a:rPr lang="en-US" sz="1050" b="1" dirty="0">
                <a:solidFill>
                  <a:srgbClr val="0A7E8C"/>
                </a:solidFill>
                <a:latin typeface="Calibri" pitchFamily="34" charset="0"/>
                <a:ea typeface="Calibri" pitchFamily="34" charset="-122"/>
                <a:cs typeface="Calibri" pitchFamily="34" charset="-120"/>
              </a:rPr>
              <a:t>Key constraint: UPDRS scores were NOT used as clustering inputs — only used afterward to interpret results.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19456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194560" cy="274320"/>
          </a:xfrm>
          <a:prstGeom prst="rect">
            <a:avLst/>
          </a:prstGeom>
          <a:noFill/>
          <a:ln/>
        </p:spPr>
        <p:txBody>
          <a:bodyPr wrap="square" lIns="0" tIns="0" rIns="0" bIns="0" rtlCol="0" anchor="ctr"/>
          <a:lstStyle/>
          <a:p>
            <a:pPr marL="0" indent="0" algn="ctr">
              <a:buNone/>
            </a:pPr>
            <a:r>
              <a:rPr lang="en-US" sz="900" b="1" dirty="0">
                <a:solidFill>
                  <a:srgbClr val="0A7E8C"/>
                </a:solidFill>
              </a:rPr>
              <a:t>DATASET</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Dataset Overview: Parkinson's Telemonitoring</a:t>
            </a:r>
            <a:endParaRPr lang="en-US" sz="2200" dirty="0"/>
          </a:p>
        </p:txBody>
      </p:sp>
      <p:sp>
        <p:nvSpPr>
          <p:cNvPr id="5" name="Shape 3"/>
          <p:cNvSpPr/>
          <p:nvPr/>
        </p:nvSpPr>
        <p:spPr>
          <a:xfrm>
            <a:off x="457200" y="1078992"/>
            <a:ext cx="1920240" cy="1051560"/>
          </a:xfrm>
          <a:prstGeom prst="roundRect">
            <a:avLst>
              <a:gd name="adj" fmla="val 10435"/>
            </a:avLst>
          </a:prstGeom>
          <a:solidFill>
            <a:srgbClr val="0A7E8C"/>
          </a:solidFill>
          <a:ln/>
          <a:effectLst>
            <a:outerShdw blurRad="101600" dist="38100" dir="2700000" algn="bl" rotWithShape="0">
              <a:srgbClr val="000000">
                <a:alpha val="12000"/>
              </a:srgbClr>
            </a:outerShdw>
          </a:effectLst>
        </p:spPr>
        <p:txBody>
          <a:bodyPr/>
          <a:lstStyle/>
          <a:p>
            <a:endParaRPr lang="en-US"/>
          </a:p>
        </p:txBody>
      </p:sp>
      <p:sp>
        <p:nvSpPr>
          <p:cNvPr id="6" name="Text 4"/>
          <p:cNvSpPr/>
          <p:nvPr/>
        </p:nvSpPr>
        <p:spPr>
          <a:xfrm>
            <a:off x="457200" y="1152144"/>
            <a:ext cx="192024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5,875</a:t>
            </a:r>
            <a:endParaRPr lang="en-US" sz="2800" dirty="0"/>
          </a:p>
        </p:txBody>
      </p:sp>
      <p:sp>
        <p:nvSpPr>
          <p:cNvPr id="7" name="Text 5"/>
          <p:cNvSpPr/>
          <p:nvPr/>
        </p:nvSpPr>
        <p:spPr>
          <a:xfrm>
            <a:off x="457200" y="1645920"/>
            <a:ext cx="1920240" cy="38404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Total Rows</a:t>
            </a:r>
            <a:endParaRPr lang="en-US" sz="1000" dirty="0"/>
          </a:p>
        </p:txBody>
      </p:sp>
      <p:sp>
        <p:nvSpPr>
          <p:cNvPr id="8" name="Shape 6"/>
          <p:cNvSpPr/>
          <p:nvPr/>
        </p:nvSpPr>
        <p:spPr>
          <a:xfrm>
            <a:off x="2514600" y="1078992"/>
            <a:ext cx="1920240" cy="1051560"/>
          </a:xfrm>
          <a:prstGeom prst="roundRect">
            <a:avLst>
              <a:gd name="adj" fmla="val 10435"/>
            </a:avLst>
          </a:prstGeom>
          <a:solidFill>
            <a:srgbClr val="0D1F3C"/>
          </a:solidFill>
          <a:ln/>
          <a:effectLst>
            <a:outerShdw blurRad="101600" dist="38100" dir="2700000" algn="bl" rotWithShape="0">
              <a:srgbClr val="000000">
                <a:alpha val="12000"/>
              </a:srgbClr>
            </a:outerShdw>
          </a:effectLst>
        </p:spPr>
        <p:txBody>
          <a:bodyPr/>
          <a:lstStyle/>
          <a:p>
            <a:endParaRPr lang="en-US"/>
          </a:p>
        </p:txBody>
      </p:sp>
      <p:sp>
        <p:nvSpPr>
          <p:cNvPr id="9" name="Text 7"/>
          <p:cNvSpPr/>
          <p:nvPr/>
        </p:nvSpPr>
        <p:spPr>
          <a:xfrm>
            <a:off x="2514600" y="1152144"/>
            <a:ext cx="192024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42</a:t>
            </a:r>
            <a:endParaRPr lang="en-US" sz="2800" dirty="0"/>
          </a:p>
        </p:txBody>
      </p:sp>
      <p:sp>
        <p:nvSpPr>
          <p:cNvPr id="10" name="Text 8"/>
          <p:cNvSpPr/>
          <p:nvPr/>
        </p:nvSpPr>
        <p:spPr>
          <a:xfrm>
            <a:off x="2514600" y="1645920"/>
            <a:ext cx="1920240" cy="38404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Unique Patients</a:t>
            </a:r>
            <a:endParaRPr lang="en-US" sz="1000" dirty="0"/>
          </a:p>
        </p:txBody>
      </p:sp>
      <p:sp>
        <p:nvSpPr>
          <p:cNvPr id="11" name="Shape 9"/>
          <p:cNvSpPr/>
          <p:nvPr/>
        </p:nvSpPr>
        <p:spPr>
          <a:xfrm>
            <a:off x="4572000" y="1078992"/>
            <a:ext cx="1920240" cy="1051560"/>
          </a:xfrm>
          <a:prstGeom prst="roundRect">
            <a:avLst>
              <a:gd name="adj" fmla="val 10435"/>
            </a:avLst>
          </a:prstGeom>
          <a:solidFill>
            <a:srgbClr val="0A7E8C"/>
          </a:solidFill>
          <a:ln/>
          <a:effectLst>
            <a:outerShdw blurRad="101600" dist="38100" dir="2700000" algn="bl" rotWithShape="0">
              <a:srgbClr val="000000">
                <a:alpha val="12000"/>
              </a:srgbClr>
            </a:outerShdw>
          </a:effectLst>
        </p:spPr>
        <p:txBody>
          <a:bodyPr/>
          <a:lstStyle/>
          <a:p>
            <a:endParaRPr lang="en-US"/>
          </a:p>
        </p:txBody>
      </p:sp>
      <p:sp>
        <p:nvSpPr>
          <p:cNvPr id="12" name="Text 10"/>
          <p:cNvSpPr/>
          <p:nvPr/>
        </p:nvSpPr>
        <p:spPr>
          <a:xfrm>
            <a:off x="4572000" y="1152144"/>
            <a:ext cx="192024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22</a:t>
            </a:r>
            <a:endParaRPr lang="en-US" sz="2800" dirty="0"/>
          </a:p>
        </p:txBody>
      </p:sp>
      <p:sp>
        <p:nvSpPr>
          <p:cNvPr id="13" name="Text 11"/>
          <p:cNvSpPr/>
          <p:nvPr/>
        </p:nvSpPr>
        <p:spPr>
          <a:xfrm>
            <a:off x="4572000" y="1645920"/>
            <a:ext cx="1920240" cy="38404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Total Columns</a:t>
            </a:r>
            <a:endParaRPr lang="en-US" sz="1000" dirty="0"/>
          </a:p>
        </p:txBody>
      </p:sp>
      <p:sp>
        <p:nvSpPr>
          <p:cNvPr id="14" name="Shape 12"/>
          <p:cNvSpPr/>
          <p:nvPr/>
        </p:nvSpPr>
        <p:spPr>
          <a:xfrm>
            <a:off x="6629400" y="1078992"/>
            <a:ext cx="2057400" cy="1051560"/>
          </a:xfrm>
          <a:prstGeom prst="roundRect">
            <a:avLst>
              <a:gd name="adj" fmla="val 10435"/>
            </a:avLst>
          </a:prstGeom>
          <a:solidFill>
            <a:srgbClr val="0D1F3C"/>
          </a:solidFill>
          <a:ln/>
          <a:effectLst>
            <a:outerShdw blurRad="101600" dist="38100" dir="2700000" algn="bl" rotWithShape="0">
              <a:srgbClr val="000000">
                <a:alpha val="12000"/>
              </a:srgbClr>
            </a:outerShdw>
          </a:effectLst>
        </p:spPr>
        <p:txBody>
          <a:bodyPr/>
          <a:lstStyle/>
          <a:p>
            <a:endParaRPr lang="en-US"/>
          </a:p>
        </p:txBody>
      </p:sp>
      <p:sp>
        <p:nvSpPr>
          <p:cNvPr id="15" name="Text 13"/>
          <p:cNvSpPr/>
          <p:nvPr/>
        </p:nvSpPr>
        <p:spPr>
          <a:xfrm>
            <a:off x="6629400" y="1152144"/>
            <a:ext cx="205740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16</a:t>
            </a:r>
            <a:endParaRPr lang="en-US" sz="2800" dirty="0"/>
          </a:p>
        </p:txBody>
      </p:sp>
      <p:sp>
        <p:nvSpPr>
          <p:cNvPr id="16" name="Text 14"/>
          <p:cNvSpPr/>
          <p:nvPr/>
        </p:nvSpPr>
        <p:spPr>
          <a:xfrm>
            <a:off x="6629400" y="1645920"/>
            <a:ext cx="2057400" cy="38404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Voice Features Used</a:t>
            </a:r>
            <a:endParaRPr lang="en-US" sz="1000" dirty="0"/>
          </a:p>
        </p:txBody>
      </p:sp>
      <p:sp>
        <p:nvSpPr>
          <p:cNvPr id="17" name="Text 15"/>
          <p:cNvSpPr/>
          <p:nvPr/>
        </p:nvSpPr>
        <p:spPr>
          <a:xfrm>
            <a:off x="457200" y="2304288"/>
            <a:ext cx="8229600" cy="457200"/>
          </a:xfrm>
          <a:prstGeom prst="rect">
            <a:avLst/>
          </a:prstGeom>
          <a:noFill/>
          <a:ln/>
        </p:spPr>
        <p:txBody>
          <a:bodyPr wrap="square" rtlCol="0" anchor="ctr"/>
          <a:lstStyle/>
          <a:p>
            <a:pPr marL="0" indent="0" algn="ctr">
              <a:buNone/>
            </a:pPr>
            <a:r>
              <a:rPr lang="en-US" sz="1300" i="1" dirty="0">
                <a:solidFill>
                  <a:srgbClr val="475569"/>
                </a:solidFill>
                <a:latin typeface="Calibri" pitchFamily="34" charset="0"/>
                <a:ea typeface="Calibri" pitchFamily="34" charset="-122"/>
                <a:cs typeface="Calibri" pitchFamily="34" charset="-120"/>
              </a:rPr>
              <a:t>Each row is a voice recording session, not a unique patient. One patient may appear hundreds of times across the dataset.</a:t>
            </a:r>
            <a:endParaRPr lang="en-US" sz="1300" dirty="0"/>
          </a:p>
        </p:txBody>
      </p:sp>
      <p:sp>
        <p:nvSpPr>
          <p:cNvPr id="18" name="Shape 16"/>
          <p:cNvSpPr/>
          <p:nvPr/>
        </p:nvSpPr>
        <p:spPr>
          <a:xfrm>
            <a:off x="457200" y="2926080"/>
            <a:ext cx="3886200" cy="960120"/>
          </a:xfrm>
          <a:prstGeom prst="roundRect">
            <a:avLst>
              <a:gd name="adj" fmla="val 9524"/>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19" name="Text 17"/>
          <p:cNvSpPr/>
          <p:nvPr/>
        </p:nvSpPr>
        <p:spPr>
          <a:xfrm>
            <a:off x="621792" y="3035808"/>
            <a:ext cx="3557016" cy="274320"/>
          </a:xfrm>
          <a:prstGeom prst="rect">
            <a:avLst/>
          </a:prstGeom>
          <a:noFill/>
          <a:ln/>
        </p:spPr>
        <p:txBody>
          <a:bodyPr wrap="square"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Voice Features  →  Clustering Inputs (16)</a:t>
            </a:r>
            <a:endParaRPr lang="en-US" sz="1200" dirty="0"/>
          </a:p>
        </p:txBody>
      </p:sp>
      <p:sp>
        <p:nvSpPr>
          <p:cNvPr id="20" name="Text 18"/>
          <p:cNvSpPr/>
          <p:nvPr/>
        </p:nvSpPr>
        <p:spPr>
          <a:xfrm>
            <a:off x="621792" y="3346704"/>
            <a:ext cx="3557016" cy="42976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Jitter, Shimmer, NHR, HNR, RPDE, DFA, PPE and variants</a:t>
            </a:r>
            <a:endParaRPr lang="en-US" sz="1100" dirty="0"/>
          </a:p>
        </p:txBody>
      </p:sp>
      <p:sp>
        <p:nvSpPr>
          <p:cNvPr id="21" name="Shape 19"/>
          <p:cNvSpPr/>
          <p:nvPr/>
        </p:nvSpPr>
        <p:spPr>
          <a:xfrm>
            <a:off x="4434840" y="2926080"/>
            <a:ext cx="4251960" cy="960120"/>
          </a:xfrm>
          <a:prstGeom prst="roundRect">
            <a:avLst>
              <a:gd name="adj" fmla="val 9524"/>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22" name="Text 20"/>
          <p:cNvSpPr/>
          <p:nvPr/>
        </p:nvSpPr>
        <p:spPr>
          <a:xfrm>
            <a:off x="4599432" y="3035808"/>
            <a:ext cx="3922776" cy="274320"/>
          </a:xfrm>
          <a:prstGeom prst="rect">
            <a:avLst/>
          </a:prstGeom>
          <a:noFill/>
          <a:ln/>
        </p:spPr>
        <p:txBody>
          <a:bodyPr wrap="square"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Meta Variables  →  Reference Only</a:t>
            </a:r>
            <a:endParaRPr lang="en-US" sz="1200" dirty="0"/>
          </a:p>
        </p:txBody>
      </p:sp>
      <p:sp>
        <p:nvSpPr>
          <p:cNvPr id="23" name="Text 21"/>
          <p:cNvSpPr/>
          <p:nvPr/>
        </p:nvSpPr>
        <p:spPr>
          <a:xfrm>
            <a:off x="4599432" y="3346704"/>
            <a:ext cx="3922776" cy="42976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subject#  ·  age  ·  sex  ·  test_time  ·  motor_UPDRS  ·  total_UPDRS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Kept as metadata for interpretation — not used for clustering.</a:t>
            </a:r>
            <a:endParaRPr lang="en-US" sz="1100" dirty="0"/>
          </a:p>
        </p:txBody>
      </p:sp>
      <p:sp>
        <p:nvSpPr>
          <p:cNvPr id="26" name="Text 24"/>
          <p:cNvSpPr/>
          <p:nvPr/>
        </p:nvSpPr>
        <p:spPr>
          <a:xfrm>
            <a:off x="685800" y="4462272"/>
            <a:ext cx="7772400" cy="658368"/>
          </a:xfrm>
          <a:prstGeom prst="rect">
            <a:avLst/>
          </a:prstGeom>
          <a:noFill/>
          <a:ln/>
        </p:spPr>
        <p:txBody>
          <a:bodyPr wrap="square" rtlCol="0" anchor="t"/>
          <a:lstStyle/>
          <a:p>
            <a:pPr marL="0" indent="0">
              <a:buNone/>
            </a:pPr>
            <a:endParaRPr lang="en-US" sz="1150" dirty="0"/>
          </a:p>
        </p:txBody>
      </p:sp>
      <p:sp>
        <p:nvSpPr>
          <p:cNvPr id="27" name="Text 25"/>
          <p:cNvSpPr/>
          <p:nvPr/>
        </p:nvSpPr>
        <p:spPr>
          <a:xfrm>
            <a:off x="457200" y="4462272"/>
            <a:ext cx="8229600" cy="256032"/>
          </a:xfrm>
          <a:prstGeom prst="rect">
            <a:avLst/>
          </a:prstGeom>
          <a:noFill/>
          <a:ln/>
        </p:spPr>
        <p:txBody>
          <a:bodyPr wrap="square"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Source: UCI Machine Learning Repository — Parkinson's Telemonitoring Dataset (ID: 189)</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19456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194560" cy="274320"/>
          </a:xfrm>
          <a:prstGeom prst="rect">
            <a:avLst/>
          </a:prstGeom>
          <a:noFill/>
          <a:ln/>
        </p:spPr>
        <p:txBody>
          <a:bodyPr wrap="square" lIns="0" tIns="0" rIns="0" bIns="0" rtlCol="0" anchor="ctr"/>
          <a:lstStyle/>
          <a:p>
            <a:pPr marL="0" indent="0" algn="ctr">
              <a:buNone/>
            </a:pPr>
            <a:r>
              <a:rPr lang="en-US" sz="900" b="1" dirty="0">
                <a:solidFill>
                  <a:srgbClr val="0A7E8C"/>
                </a:solidFill>
              </a:rPr>
              <a:t>FEATURES</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Feature Selection: Voice Inputs &amp; Meta Variables</a:t>
            </a:r>
            <a:endParaRPr lang="en-US" sz="2200" dirty="0"/>
          </a:p>
        </p:txBody>
      </p:sp>
      <p:sp>
        <p:nvSpPr>
          <p:cNvPr id="5" name="Shape 3"/>
          <p:cNvSpPr/>
          <p:nvPr/>
        </p:nvSpPr>
        <p:spPr>
          <a:xfrm>
            <a:off x="457200" y="1024128"/>
            <a:ext cx="5120640" cy="3749040"/>
          </a:xfrm>
          <a:prstGeom prst="roundRect">
            <a:avLst>
              <a:gd name="adj" fmla="val 2439"/>
            </a:avLst>
          </a:prstGeom>
          <a:solidFill>
            <a:srgbClr val="F4F7F9"/>
          </a:solidFill>
          <a:ln/>
          <a:effectLst>
            <a:outerShdw blurRad="76200" dist="25400" dir="2700000" algn="bl" rotWithShape="0">
              <a:srgbClr val="000000">
                <a:alpha val="9000"/>
              </a:srgbClr>
            </a:outerShdw>
          </a:effectLst>
        </p:spPr>
        <p:txBody>
          <a:bodyPr/>
          <a:lstStyle/>
          <a:p>
            <a:endParaRPr lang="en-US"/>
          </a:p>
        </p:txBody>
      </p:sp>
      <p:sp>
        <p:nvSpPr>
          <p:cNvPr id="6" name="Text 4"/>
          <p:cNvSpPr/>
          <p:nvPr/>
        </p:nvSpPr>
        <p:spPr>
          <a:xfrm>
            <a:off x="640080" y="1115568"/>
            <a:ext cx="4754880" cy="292608"/>
          </a:xfrm>
          <a:prstGeom prst="rect">
            <a:avLst/>
          </a:prstGeom>
          <a:noFill/>
          <a:ln/>
        </p:spPr>
        <p:txBody>
          <a:bodyPr wrap="square"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  Voice Features — Clustering Inputs (16)</a:t>
            </a:r>
            <a:endParaRPr lang="en-US" sz="1200" dirty="0"/>
          </a:p>
        </p:txBody>
      </p:sp>
      <p:sp>
        <p:nvSpPr>
          <p:cNvPr id="7" name="Text 5"/>
          <p:cNvSpPr/>
          <p:nvPr/>
        </p:nvSpPr>
        <p:spPr>
          <a:xfrm>
            <a:off x="658368" y="1444752"/>
            <a:ext cx="4754880" cy="3154680"/>
          </a:xfrm>
          <a:prstGeom prst="rect">
            <a:avLst/>
          </a:prstGeom>
          <a:noFill/>
          <a:ln/>
        </p:spPr>
        <p:txBody>
          <a:bodyPr wrap="square" rtlCol="0" anchor="t"/>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Jitter(%), Jitter(Abs), Jitter:RAP, Jitter:PPQ5, Jitter:DDP</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Shimmer, Shimmer(dB), Shimmer:APQ3, Shimmer:APQ5</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Shimmer:APQ11, Shimmer:DDA</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NHR — Noise-to-Harmonics Ratio</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HNR — Harmonics-to-Noise Ratio</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RPDE — Recurrence Period Density Entropy</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DFA — Detrended Fluctuation Analysis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PPE — Pitch Period Entropy</a:t>
            </a:r>
            <a:endParaRPr lang="en-US" sz="1100" dirty="0"/>
          </a:p>
        </p:txBody>
      </p:sp>
      <p:sp>
        <p:nvSpPr>
          <p:cNvPr id="8" name="Shape 6"/>
          <p:cNvSpPr/>
          <p:nvPr/>
        </p:nvSpPr>
        <p:spPr>
          <a:xfrm>
            <a:off x="5760720" y="1024128"/>
            <a:ext cx="2926080" cy="1783080"/>
          </a:xfrm>
          <a:prstGeom prst="roundRect">
            <a:avLst>
              <a:gd name="adj" fmla="val 5128"/>
            </a:avLst>
          </a:prstGeom>
          <a:solidFill>
            <a:srgbClr val="D4F1F4"/>
          </a:solidFill>
          <a:ln/>
          <a:effectLst>
            <a:outerShdw blurRad="76200" dist="25400" dir="2700000" algn="bl" rotWithShape="0">
              <a:srgbClr val="000000">
                <a:alpha val="9000"/>
              </a:srgbClr>
            </a:outerShdw>
          </a:effectLst>
        </p:spPr>
        <p:txBody>
          <a:bodyPr/>
          <a:lstStyle/>
          <a:p>
            <a:endParaRPr lang="en-US"/>
          </a:p>
        </p:txBody>
      </p:sp>
      <p:sp>
        <p:nvSpPr>
          <p:cNvPr id="9" name="Text 7"/>
          <p:cNvSpPr/>
          <p:nvPr/>
        </p:nvSpPr>
        <p:spPr>
          <a:xfrm>
            <a:off x="5925312" y="1115568"/>
            <a:ext cx="2606040" cy="292608"/>
          </a:xfrm>
          <a:prstGeom prst="rect">
            <a:avLst/>
          </a:prstGeom>
          <a:noFill/>
          <a:ln/>
        </p:spPr>
        <p:txBody>
          <a:bodyPr wrap="square" rtlCol="0" anchor="ctr"/>
          <a:lstStyle/>
          <a:p>
            <a:pPr marL="0" indent="0">
              <a:buNone/>
            </a:pPr>
            <a:r>
              <a:rPr lang="en-US" sz="1100" b="1" dirty="0">
                <a:solidFill>
                  <a:srgbClr val="0A7E8C"/>
                </a:solidFill>
                <a:latin typeface="Calibri" pitchFamily="34" charset="0"/>
                <a:ea typeface="Calibri" pitchFamily="34" charset="-122"/>
                <a:cs typeface="Calibri" pitchFamily="34" charset="-120"/>
              </a:rPr>
              <a:t>📎  Meta Variables (kept for reference)</a:t>
            </a:r>
            <a:endParaRPr lang="en-US" sz="1100" dirty="0"/>
          </a:p>
        </p:txBody>
      </p:sp>
      <p:sp>
        <p:nvSpPr>
          <p:cNvPr id="10" name="Text 8"/>
          <p:cNvSpPr/>
          <p:nvPr/>
        </p:nvSpPr>
        <p:spPr>
          <a:xfrm>
            <a:off x="5925312" y="1444752"/>
            <a:ext cx="2606040" cy="1234440"/>
          </a:xfrm>
          <a:prstGeom prst="rect">
            <a:avLst/>
          </a:prstGeom>
          <a:noFill/>
          <a:ln/>
        </p:spPr>
        <p:txBody>
          <a:bodyPr wrap="square" rtlCol="0" anchor="t"/>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subject#  ·  age  ·  sex</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test_time</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motor_UPDRS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total_UPDRS</a:t>
            </a:r>
            <a:endParaRPr lang="en-US" sz="1100" dirty="0"/>
          </a:p>
        </p:txBody>
      </p:sp>
      <p:sp>
        <p:nvSpPr>
          <p:cNvPr id="11" name="Shape 9"/>
          <p:cNvSpPr/>
          <p:nvPr/>
        </p:nvSpPr>
        <p:spPr>
          <a:xfrm>
            <a:off x="5760720" y="2944368"/>
            <a:ext cx="2926080" cy="1828800"/>
          </a:xfrm>
          <a:prstGeom prst="roundRect">
            <a:avLst>
              <a:gd name="adj" fmla="val 5000"/>
            </a:avLst>
          </a:prstGeom>
          <a:solidFill>
            <a:srgbClr val="F4F7F9"/>
          </a:solidFill>
          <a:ln/>
          <a:effectLst>
            <a:outerShdw blurRad="76200" dist="25400" dir="2700000" algn="bl" rotWithShape="0">
              <a:srgbClr val="000000">
                <a:alpha val="9000"/>
              </a:srgbClr>
            </a:outerShdw>
          </a:effectLst>
        </p:spPr>
        <p:txBody>
          <a:bodyPr/>
          <a:lstStyle/>
          <a:p>
            <a:endParaRPr lang="en-US"/>
          </a:p>
        </p:txBody>
      </p:sp>
      <p:sp>
        <p:nvSpPr>
          <p:cNvPr id="12" name="Text 10"/>
          <p:cNvSpPr/>
          <p:nvPr/>
        </p:nvSpPr>
        <p:spPr>
          <a:xfrm>
            <a:off x="5925312" y="3035808"/>
            <a:ext cx="2606040" cy="292608"/>
          </a:xfrm>
          <a:prstGeom prst="rect">
            <a:avLst/>
          </a:prstGeom>
          <a:noFill/>
          <a:ln/>
        </p:spPr>
        <p:txBody>
          <a:bodyPr wrap="square" rtlCol="0" anchor="ctr"/>
          <a:lstStyle/>
          <a:p>
            <a:pPr marL="0" indent="0">
              <a:buNone/>
            </a:pPr>
            <a:r>
              <a:rPr lang="en-US" sz="1100" b="1" dirty="0">
                <a:solidFill>
                  <a:srgbClr val="0D1F3C"/>
                </a:solidFill>
                <a:latin typeface="Calibri" pitchFamily="34" charset="0"/>
                <a:ea typeface="Calibri" pitchFamily="34" charset="-122"/>
                <a:cs typeface="Calibri" pitchFamily="34" charset="-120"/>
              </a:rPr>
              <a:t>Why Meta, not excluded?</a:t>
            </a:r>
            <a:endParaRPr lang="en-US" sz="1100" dirty="0"/>
          </a:p>
        </p:txBody>
      </p:sp>
      <p:sp>
        <p:nvSpPr>
          <p:cNvPr id="13" name="Text 11"/>
          <p:cNvSpPr/>
          <p:nvPr/>
        </p:nvSpPr>
        <p:spPr>
          <a:xfrm>
            <a:off x="5925312" y="3364992"/>
            <a:ext cx="2606040" cy="1298448"/>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Orange's Select Columns widget lets us mark these as Meta. The clustering algorithm ignores them completely, but they remain accessible in Box Plot and Data Table for post-hoc UPDRS comparison.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37744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377440" cy="274320"/>
          </a:xfrm>
          <a:prstGeom prst="rect">
            <a:avLst/>
          </a:prstGeom>
          <a:noFill/>
          <a:ln/>
        </p:spPr>
        <p:txBody>
          <a:bodyPr wrap="square" lIns="0" tIns="0" rIns="0" bIns="0" rtlCol="0" anchor="ctr"/>
          <a:lstStyle/>
          <a:p>
            <a:pPr marL="0" indent="0" algn="ctr">
              <a:buNone/>
            </a:pPr>
            <a:r>
              <a:rPr lang="en-US" sz="900" b="1" dirty="0">
                <a:solidFill>
                  <a:srgbClr val="0A7E8C"/>
                </a:solidFill>
              </a:rPr>
              <a:t>ORANGE WORKFLOW</a:t>
            </a:r>
            <a:endParaRPr lang="en-US" sz="900" dirty="0"/>
          </a:p>
        </p:txBody>
      </p:sp>
      <p:sp>
        <p:nvSpPr>
          <p:cNvPr id="4" name="Text 2"/>
          <p:cNvSpPr/>
          <p:nvPr/>
        </p:nvSpPr>
        <p:spPr>
          <a:xfrm>
            <a:off x="525780" y="467399"/>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Orange Canvas Workflow</a:t>
            </a:r>
            <a:endParaRPr lang="en-US" sz="2200" dirty="0"/>
          </a:p>
        </p:txBody>
      </p:sp>
      <p:sp>
        <p:nvSpPr>
          <p:cNvPr id="5" name="Shape 3"/>
          <p:cNvSpPr/>
          <p:nvPr/>
        </p:nvSpPr>
        <p:spPr>
          <a:xfrm>
            <a:off x="457200" y="1051560"/>
            <a:ext cx="1554480" cy="868680"/>
          </a:xfrm>
          <a:prstGeom prst="roundRect">
            <a:avLst>
              <a:gd name="adj" fmla="val 10526"/>
            </a:avLst>
          </a:prstGeom>
          <a:solidFill>
            <a:srgbClr val="0A7E8C"/>
          </a:solidFill>
          <a:ln/>
          <a:effectLst>
            <a:outerShdw blurRad="63500" dist="25400" dir="2700000" algn="bl" rotWithShape="0">
              <a:srgbClr val="000000">
                <a:alpha val="12000"/>
              </a:srgbClr>
            </a:outerShdw>
          </a:effectLst>
        </p:spPr>
        <p:txBody>
          <a:bodyPr/>
          <a:lstStyle/>
          <a:p>
            <a:endParaRPr lang="en-US"/>
          </a:p>
        </p:txBody>
      </p:sp>
      <p:sp>
        <p:nvSpPr>
          <p:cNvPr id="6" name="Text 4"/>
          <p:cNvSpPr/>
          <p:nvPr/>
        </p:nvSpPr>
        <p:spPr>
          <a:xfrm>
            <a:off x="457200" y="1088136"/>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7" name="Text 5"/>
          <p:cNvSpPr/>
          <p:nvPr/>
        </p:nvSpPr>
        <p:spPr>
          <a:xfrm>
            <a:off x="457200" y="1472184"/>
            <a:ext cx="155448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File</a:t>
            </a:r>
            <a:endParaRPr lang="en-US" sz="950" dirty="0"/>
          </a:p>
        </p:txBody>
      </p:sp>
      <p:sp>
        <p:nvSpPr>
          <p:cNvPr id="8" name="Shape 6"/>
          <p:cNvSpPr/>
          <p:nvPr/>
        </p:nvSpPr>
        <p:spPr>
          <a:xfrm>
            <a:off x="2011680" y="1485900"/>
            <a:ext cx="201168" cy="0"/>
          </a:xfrm>
          <a:prstGeom prst="line">
            <a:avLst/>
          </a:prstGeom>
          <a:noFill/>
          <a:ln w="25400">
            <a:solidFill>
              <a:srgbClr val="0D9CA8"/>
            </a:solidFill>
            <a:prstDash val="solid"/>
          </a:ln>
        </p:spPr>
        <p:txBody>
          <a:bodyPr/>
          <a:lstStyle/>
          <a:p>
            <a:endParaRPr lang="en-US"/>
          </a:p>
        </p:txBody>
      </p:sp>
      <p:sp>
        <p:nvSpPr>
          <p:cNvPr id="9" name="Shape 7"/>
          <p:cNvSpPr/>
          <p:nvPr/>
        </p:nvSpPr>
        <p:spPr>
          <a:xfrm>
            <a:off x="2212848" y="1051560"/>
            <a:ext cx="1554480" cy="868680"/>
          </a:xfrm>
          <a:prstGeom prst="roundRect">
            <a:avLst>
              <a:gd name="adj" fmla="val 10526"/>
            </a:avLst>
          </a:prstGeom>
          <a:solidFill>
            <a:srgbClr val="0D1F3C"/>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2212848" y="1088136"/>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1" name="Text 9"/>
          <p:cNvSpPr/>
          <p:nvPr/>
        </p:nvSpPr>
        <p:spPr>
          <a:xfrm>
            <a:off x="2212848" y="1472184"/>
            <a:ext cx="155448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Select</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Columns</a:t>
            </a:r>
            <a:endParaRPr lang="en-US" sz="950" dirty="0"/>
          </a:p>
        </p:txBody>
      </p:sp>
      <p:sp>
        <p:nvSpPr>
          <p:cNvPr id="12" name="Shape 10"/>
          <p:cNvSpPr/>
          <p:nvPr/>
        </p:nvSpPr>
        <p:spPr>
          <a:xfrm>
            <a:off x="3767328" y="1485900"/>
            <a:ext cx="201168" cy="0"/>
          </a:xfrm>
          <a:prstGeom prst="line">
            <a:avLst/>
          </a:prstGeom>
          <a:noFill/>
          <a:ln w="25400">
            <a:solidFill>
              <a:srgbClr val="0D9CA8"/>
            </a:solidFill>
            <a:prstDash val="solid"/>
          </a:ln>
        </p:spPr>
        <p:txBody>
          <a:bodyPr/>
          <a:lstStyle/>
          <a:p>
            <a:endParaRPr lang="en-US"/>
          </a:p>
        </p:txBody>
      </p:sp>
      <p:sp>
        <p:nvSpPr>
          <p:cNvPr id="13" name="Shape 11"/>
          <p:cNvSpPr/>
          <p:nvPr/>
        </p:nvSpPr>
        <p:spPr>
          <a:xfrm>
            <a:off x="3968496" y="1051560"/>
            <a:ext cx="1554480" cy="868680"/>
          </a:xfrm>
          <a:prstGeom prst="roundRect">
            <a:avLst>
              <a:gd name="adj" fmla="val 10526"/>
            </a:avLst>
          </a:prstGeom>
          <a:solidFill>
            <a:srgbClr val="0A7E8C"/>
          </a:solidFill>
          <a:ln/>
          <a:effectLst>
            <a:outerShdw blurRad="63500" dist="25400" dir="2700000" algn="bl" rotWithShape="0">
              <a:srgbClr val="000000">
                <a:alpha val="12000"/>
              </a:srgbClr>
            </a:outerShdw>
          </a:effectLst>
        </p:spPr>
        <p:txBody>
          <a:bodyPr/>
          <a:lstStyle/>
          <a:p>
            <a:endParaRPr lang="en-US"/>
          </a:p>
        </p:txBody>
      </p:sp>
      <p:sp>
        <p:nvSpPr>
          <p:cNvPr id="14" name="Text 12"/>
          <p:cNvSpPr/>
          <p:nvPr/>
        </p:nvSpPr>
        <p:spPr>
          <a:xfrm>
            <a:off x="3968496" y="1088136"/>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5" name="Text 13"/>
          <p:cNvSpPr/>
          <p:nvPr/>
        </p:nvSpPr>
        <p:spPr>
          <a:xfrm>
            <a:off x="3968496" y="1472184"/>
            <a:ext cx="155448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Preprocess</a:t>
            </a:r>
            <a:endParaRPr lang="en-US" sz="950" dirty="0"/>
          </a:p>
        </p:txBody>
      </p:sp>
      <p:sp>
        <p:nvSpPr>
          <p:cNvPr id="16" name="Shape 14"/>
          <p:cNvSpPr/>
          <p:nvPr/>
        </p:nvSpPr>
        <p:spPr>
          <a:xfrm>
            <a:off x="5522976" y="1485900"/>
            <a:ext cx="201168" cy="0"/>
          </a:xfrm>
          <a:prstGeom prst="line">
            <a:avLst/>
          </a:prstGeom>
          <a:noFill/>
          <a:ln w="25400">
            <a:solidFill>
              <a:srgbClr val="0D9CA8"/>
            </a:solidFill>
            <a:prstDash val="solid"/>
          </a:ln>
        </p:spPr>
        <p:txBody>
          <a:bodyPr/>
          <a:lstStyle/>
          <a:p>
            <a:endParaRPr lang="en-US"/>
          </a:p>
        </p:txBody>
      </p:sp>
      <p:sp>
        <p:nvSpPr>
          <p:cNvPr id="17" name="Shape 15"/>
          <p:cNvSpPr/>
          <p:nvPr/>
        </p:nvSpPr>
        <p:spPr>
          <a:xfrm>
            <a:off x="5724144" y="1051560"/>
            <a:ext cx="1554480" cy="868680"/>
          </a:xfrm>
          <a:prstGeom prst="roundRect">
            <a:avLst>
              <a:gd name="adj" fmla="val 10526"/>
            </a:avLst>
          </a:prstGeom>
          <a:solidFill>
            <a:srgbClr val="0D1F3C"/>
          </a:solidFill>
          <a:ln/>
          <a:effectLst>
            <a:outerShdw blurRad="63500" dist="25400" dir="2700000" algn="bl" rotWithShape="0">
              <a:srgbClr val="000000">
                <a:alpha val="12000"/>
              </a:srgbClr>
            </a:outerShdw>
          </a:effectLst>
        </p:spPr>
        <p:txBody>
          <a:bodyPr/>
          <a:lstStyle/>
          <a:p>
            <a:endParaRPr lang="en-US"/>
          </a:p>
        </p:txBody>
      </p:sp>
      <p:sp>
        <p:nvSpPr>
          <p:cNvPr id="18" name="Text 16"/>
          <p:cNvSpPr/>
          <p:nvPr/>
        </p:nvSpPr>
        <p:spPr>
          <a:xfrm>
            <a:off x="5724144" y="1088136"/>
            <a:ext cx="1554480" cy="347472"/>
          </a:xfrm>
          <a:prstGeom prst="rect">
            <a:avLst/>
          </a:prstGeom>
          <a:noFill/>
          <a:ln/>
        </p:spPr>
        <p:txBody>
          <a:bodyPr wrap="square" rtlCol="0" anchor="ctr"/>
          <a:lstStyle/>
          <a:p>
            <a:pPr marL="0" indent="0" algn="ctr">
              <a:buNone/>
            </a:pPr>
            <a:r>
              <a:rPr lang="en-US" sz="1600" dirty="0">
                <a:solidFill>
                  <a:srgbClr val="000000"/>
                </a:solidFill>
              </a:rPr>
              <a:t>🎲</a:t>
            </a:r>
            <a:endParaRPr lang="en-US" sz="1600" dirty="0"/>
          </a:p>
        </p:txBody>
      </p:sp>
      <p:sp>
        <p:nvSpPr>
          <p:cNvPr id="19" name="Text 17"/>
          <p:cNvSpPr/>
          <p:nvPr/>
        </p:nvSpPr>
        <p:spPr>
          <a:xfrm>
            <a:off x="5724144" y="1472184"/>
            <a:ext cx="1554480" cy="38404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Data</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Sampler</a:t>
            </a:r>
            <a:endParaRPr lang="en-US" sz="950" dirty="0"/>
          </a:p>
        </p:txBody>
      </p:sp>
      <p:sp>
        <p:nvSpPr>
          <p:cNvPr id="20" name="Text 18"/>
          <p:cNvSpPr/>
          <p:nvPr/>
        </p:nvSpPr>
        <p:spPr>
          <a:xfrm>
            <a:off x="457200" y="1956816"/>
            <a:ext cx="6821424" cy="256032"/>
          </a:xfrm>
          <a:prstGeom prst="rect">
            <a:avLst/>
          </a:prstGeom>
          <a:noFill/>
          <a:ln/>
        </p:spPr>
        <p:txBody>
          <a:bodyPr wrap="square" rtlCol="0" anchor="ctr"/>
          <a:lstStyle/>
          <a:p>
            <a:pPr marL="0" indent="0" algn="ctr">
              <a:buNone/>
            </a:pPr>
            <a:r>
              <a:rPr lang="en-US" sz="950" b="1" dirty="0">
                <a:solidFill>
                  <a:srgbClr val="0A7E8C"/>
                </a:solidFill>
                <a:latin typeface="Calibri" pitchFamily="34" charset="0"/>
                <a:ea typeface="Calibri" pitchFamily="34" charset="-122"/>
                <a:cs typeface="Calibri" pitchFamily="34" charset="-120"/>
              </a:rPr>
              <a:t>① Shared Preprocessing Path</a:t>
            </a:r>
            <a:endParaRPr lang="en-US" sz="950" dirty="0"/>
          </a:p>
        </p:txBody>
      </p:sp>
      <p:sp>
        <p:nvSpPr>
          <p:cNvPr id="21" name="Shape 19"/>
          <p:cNvSpPr/>
          <p:nvPr/>
        </p:nvSpPr>
        <p:spPr>
          <a:xfrm>
            <a:off x="6501384" y="1920240"/>
            <a:ext cx="0" cy="228600"/>
          </a:xfrm>
          <a:prstGeom prst="line">
            <a:avLst/>
          </a:prstGeom>
          <a:noFill/>
          <a:ln w="25400">
            <a:solidFill>
              <a:srgbClr val="0D9CA8"/>
            </a:solidFill>
            <a:prstDash val="solid"/>
          </a:ln>
        </p:spPr>
        <p:txBody>
          <a:bodyPr/>
          <a:lstStyle/>
          <a:p>
            <a:endParaRPr lang="en-US"/>
          </a:p>
        </p:txBody>
      </p:sp>
      <p:sp>
        <p:nvSpPr>
          <p:cNvPr id="22" name="Shape 20"/>
          <p:cNvSpPr/>
          <p:nvPr/>
        </p:nvSpPr>
        <p:spPr>
          <a:xfrm>
            <a:off x="1508760" y="2148840"/>
            <a:ext cx="6035040" cy="0"/>
          </a:xfrm>
          <a:prstGeom prst="line">
            <a:avLst/>
          </a:prstGeom>
          <a:noFill/>
          <a:ln w="25400">
            <a:solidFill>
              <a:srgbClr val="0D9CA8"/>
            </a:solidFill>
            <a:prstDash val="solid"/>
          </a:ln>
        </p:spPr>
        <p:txBody>
          <a:bodyPr/>
          <a:lstStyle/>
          <a:p>
            <a:endParaRPr lang="en-US"/>
          </a:p>
        </p:txBody>
      </p:sp>
      <p:sp>
        <p:nvSpPr>
          <p:cNvPr id="23" name="Shape 21"/>
          <p:cNvSpPr/>
          <p:nvPr/>
        </p:nvSpPr>
        <p:spPr>
          <a:xfrm>
            <a:off x="1508760" y="2148840"/>
            <a:ext cx="0" cy="201168"/>
          </a:xfrm>
          <a:prstGeom prst="line">
            <a:avLst/>
          </a:prstGeom>
          <a:noFill/>
          <a:ln w="25400">
            <a:solidFill>
              <a:srgbClr val="0D9CA8"/>
            </a:solidFill>
            <a:prstDash val="solid"/>
          </a:ln>
        </p:spPr>
        <p:txBody>
          <a:bodyPr/>
          <a:lstStyle/>
          <a:p>
            <a:endParaRPr lang="en-US"/>
          </a:p>
        </p:txBody>
      </p:sp>
      <p:sp>
        <p:nvSpPr>
          <p:cNvPr id="24" name="Shape 22"/>
          <p:cNvSpPr/>
          <p:nvPr/>
        </p:nvSpPr>
        <p:spPr>
          <a:xfrm>
            <a:off x="4526280" y="2148840"/>
            <a:ext cx="0" cy="201168"/>
          </a:xfrm>
          <a:prstGeom prst="line">
            <a:avLst/>
          </a:prstGeom>
          <a:noFill/>
          <a:ln w="25400">
            <a:solidFill>
              <a:srgbClr val="0D9CA8"/>
            </a:solidFill>
            <a:prstDash val="solid"/>
          </a:ln>
        </p:spPr>
        <p:txBody>
          <a:bodyPr/>
          <a:lstStyle/>
          <a:p>
            <a:endParaRPr lang="en-US"/>
          </a:p>
        </p:txBody>
      </p:sp>
      <p:sp>
        <p:nvSpPr>
          <p:cNvPr id="25" name="Shape 23"/>
          <p:cNvSpPr/>
          <p:nvPr/>
        </p:nvSpPr>
        <p:spPr>
          <a:xfrm>
            <a:off x="7543800" y="2148840"/>
            <a:ext cx="0" cy="201168"/>
          </a:xfrm>
          <a:prstGeom prst="line">
            <a:avLst/>
          </a:prstGeom>
          <a:noFill/>
          <a:ln w="25400">
            <a:solidFill>
              <a:srgbClr val="0D9CA8"/>
            </a:solidFill>
            <a:prstDash val="solid"/>
          </a:ln>
        </p:spPr>
        <p:txBody>
          <a:bodyPr/>
          <a:lstStyle/>
          <a:p>
            <a:endParaRPr lang="en-US"/>
          </a:p>
        </p:txBody>
      </p:sp>
      <p:sp>
        <p:nvSpPr>
          <p:cNvPr id="26" name="Shape 24"/>
          <p:cNvSpPr/>
          <p:nvPr/>
        </p:nvSpPr>
        <p:spPr>
          <a:xfrm>
            <a:off x="297180" y="2350008"/>
            <a:ext cx="2423160" cy="274320"/>
          </a:xfrm>
          <a:prstGeom prst="roundRect">
            <a:avLst>
              <a:gd name="adj" fmla="val 20000"/>
            </a:avLst>
          </a:prstGeom>
          <a:solidFill>
            <a:srgbClr val="0A7E8C"/>
          </a:solidFill>
          <a:ln/>
        </p:spPr>
        <p:txBody>
          <a:bodyPr/>
          <a:lstStyle/>
          <a:p>
            <a:endParaRPr lang="en-US"/>
          </a:p>
        </p:txBody>
      </p:sp>
      <p:sp>
        <p:nvSpPr>
          <p:cNvPr id="27" name="Text 25"/>
          <p:cNvSpPr/>
          <p:nvPr/>
        </p:nvSpPr>
        <p:spPr>
          <a:xfrm>
            <a:off x="297180" y="2350008"/>
            <a:ext cx="24231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K-Means Branch</a:t>
            </a:r>
            <a:endParaRPr lang="en-US" sz="900" dirty="0"/>
          </a:p>
        </p:txBody>
      </p:sp>
      <p:sp>
        <p:nvSpPr>
          <p:cNvPr id="28" name="Shape 26"/>
          <p:cNvSpPr/>
          <p:nvPr/>
        </p:nvSpPr>
        <p:spPr>
          <a:xfrm>
            <a:off x="297180" y="2697480"/>
            <a:ext cx="2423160" cy="713232"/>
          </a:xfrm>
          <a:prstGeom prst="roundRect">
            <a:avLst>
              <a:gd name="adj" fmla="val 10256"/>
            </a:avLst>
          </a:prstGeom>
          <a:solidFill>
            <a:srgbClr val="F4F7F9"/>
          </a:solidFill>
          <a:ln w="15240">
            <a:solidFill>
              <a:srgbClr val="0A7E8C"/>
            </a:solidFill>
            <a:prstDash val="solid"/>
          </a:ln>
          <a:effectLst>
            <a:outerShdw blurRad="50800" dist="25400" dir="2700000" algn="bl" rotWithShape="0">
              <a:srgbClr val="000000">
                <a:alpha val="8000"/>
              </a:srgbClr>
            </a:outerShdw>
          </a:effectLst>
        </p:spPr>
        <p:txBody>
          <a:bodyPr/>
          <a:lstStyle/>
          <a:p>
            <a:endParaRPr lang="en-US"/>
          </a:p>
        </p:txBody>
      </p:sp>
      <p:sp>
        <p:nvSpPr>
          <p:cNvPr id="29" name="Text 27"/>
          <p:cNvSpPr/>
          <p:nvPr/>
        </p:nvSpPr>
        <p:spPr>
          <a:xfrm>
            <a:off x="388620" y="2743200"/>
            <a:ext cx="2240280" cy="621792"/>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K-Means</a:t>
            </a:r>
            <a:endParaRPr lang="en-US" sz="950" dirty="0"/>
          </a:p>
        </p:txBody>
      </p:sp>
      <p:sp>
        <p:nvSpPr>
          <p:cNvPr id="30" name="Shape 28"/>
          <p:cNvSpPr/>
          <p:nvPr/>
        </p:nvSpPr>
        <p:spPr>
          <a:xfrm>
            <a:off x="1508760" y="3410712"/>
            <a:ext cx="0" cy="146304"/>
          </a:xfrm>
          <a:prstGeom prst="line">
            <a:avLst/>
          </a:prstGeom>
          <a:noFill/>
          <a:ln w="19050">
            <a:solidFill>
              <a:srgbClr val="0A7E8C"/>
            </a:solidFill>
            <a:prstDash val="solid"/>
          </a:ln>
        </p:spPr>
        <p:txBody>
          <a:bodyPr/>
          <a:lstStyle/>
          <a:p>
            <a:endParaRPr lang="en-US"/>
          </a:p>
        </p:txBody>
      </p:sp>
      <p:sp>
        <p:nvSpPr>
          <p:cNvPr id="31" name="Shape 29"/>
          <p:cNvSpPr/>
          <p:nvPr/>
        </p:nvSpPr>
        <p:spPr>
          <a:xfrm>
            <a:off x="297180" y="3557016"/>
            <a:ext cx="2423160" cy="713232"/>
          </a:xfrm>
          <a:prstGeom prst="roundRect">
            <a:avLst>
              <a:gd name="adj" fmla="val 10256"/>
            </a:avLst>
          </a:prstGeom>
          <a:solidFill>
            <a:srgbClr val="F4F7F9"/>
          </a:solidFill>
          <a:ln w="15240">
            <a:solidFill>
              <a:srgbClr val="0A7E8C"/>
            </a:solidFill>
            <a:prstDash val="solid"/>
          </a:ln>
          <a:effectLst>
            <a:outerShdw blurRad="50800" dist="25400" dir="2700000" algn="bl" rotWithShape="0">
              <a:srgbClr val="000000">
                <a:alpha val="8000"/>
              </a:srgbClr>
            </a:outerShdw>
          </a:effectLst>
        </p:spPr>
        <p:txBody>
          <a:bodyPr/>
          <a:lstStyle/>
          <a:p>
            <a:endParaRPr lang="en-US"/>
          </a:p>
        </p:txBody>
      </p:sp>
      <p:sp>
        <p:nvSpPr>
          <p:cNvPr id="32" name="Text 30"/>
          <p:cNvSpPr/>
          <p:nvPr/>
        </p:nvSpPr>
        <p:spPr>
          <a:xfrm>
            <a:off x="388620" y="3602736"/>
            <a:ext cx="2240280" cy="621792"/>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Silhouette Plot</a:t>
            </a:r>
            <a:endParaRPr lang="en-US" sz="950" dirty="0"/>
          </a:p>
          <a:p>
            <a:pPr marL="0" indent="0" algn="ctr">
              <a:buNone/>
            </a:pPr>
            <a:r>
              <a:rPr lang="en-US" sz="950" dirty="0">
                <a:solidFill>
                  <a:srgbClr val="1E293B"/>
                </a:solidFill>
                <a:latin typeface="Calibri" pitchFamily="34" charset="0"/>
                <a:ea typeface="Calibri" pitchFamily="34" charset="-122"/>
                <a:cs typeface="Calibri" pitchFamily="34" charset="-120"/>
              </a:rPr>
              <a:t>Box Plot</a:t>
            </a:r>
            <a:endParaRPr lang="en-US" sz="950" dirty="0"/>
          </a:p>
          <a:p>
            <a:pPr marL="0" indent="0" algn="ctr">
              <a:buNone/>
            </a:pPr>
            <a:r>
              <a:rPr lang="en-US" sz="950" dirty="0">
                <a:solidFill>
                  <a:srgbClr val="1E293B"/>
                </a:solidFill>
                <a:latin typeface="Calibri" pitchFamily="34" charset="0"/>
                <a:ea typeface="Calibri" pitchFamily="34" charset="-122"/>
                <a:cs typeface="Calibri" pitchFamily="34" charset="-120"/>
              </a:rPr>
              <a:t>Data Table</a:t>
            </a:r>
            <a:endParaRPr lang="en-US" sz="950" dirty="0"/>
          </a:p>
        </p:txBody>
      </p:sp>
      <p:sp>
        <p:nvSpPr>
          <p:cNvPr id="33" name="Shape 31"/>
          <p:cNvSpPr/>
          <p:nvPr/>
        </p:nvSpPr>
        <p:spPr>
          <a:xfrm>
            <a:off x="3314700" y="2350008"/>
            <a:ext cx="2423160" cy="274320"/>
          </a:xfrm>
          <a:prstGeom prst="roundRect">
            <a:avLst>
              <a:gd name="adj" fmla="val 20000"/>
            </a:avLst>
          </a:prstGeom>
          <a:solidFill>
            <a:srgbClr val="6B3FA0"/>
          </a:solidFill>
          <a:ln/>
        </p:spPr>
        <p:txBody>
          <a:bodyPr/>
          <a:lstStyle/>
          <a:p>
            <a:endParaRPr lang="en-US"/>
          </a:p>
        </p:txBody>
      </p:sp>
      <p:sp>
        <p:nvSpPr>
          <p:cNvPr id="34" name="Text 32"/>
          <p:cNvSpPr/>
          <p:nvPr/>
        </p:nvSpPr>
        <p:spPr>
          <a:xfrm>
            <a:off x="3314700" y="2350008"/>
            <a:ext cx="24231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PCA Branch</a:t>
            </a:r>
            <a:endParaRPr lang="en-US" sz="900" dirty="0"/>
          </a:p>
        </p:txBody>
      </p:sp>
      <p:sp>
        <p:nvSpPr>
          <p:cNvPr id="35" name="Shape 33"/>
          <p:cNvSpPr/>
          <p:nvPr/>
        </p:nvSpPr>
        <p:spPr>
          <a:xfrm>
            <a:off x="3314700" y="2697480"/>
            <a:ext cx="2423160" cy="713232"/>
          </a:xfrm>
          <a:prstGeom prst="roundRect">
            <a:avLst>
              <a:gd name="adj" fmla="val 10256"/>
            </a:avLst>
          </a:prstGeom>
          <a:solidFill>
            <a:srgbClr val="F4F7F9"/>
          </a:solidFill>
          <a:ln w="15240">
            <a:solidFill>
              <a:srgbClr val="6B3FA0"/>
            </a:solidFill>
            <a:prstDash val="solid"/>
          </a:ln>
          <a:effectLst>
            <a:outerShdw blurRad="50800" dist="25400" dir="2700000" algn="bl" rotWithShape="0">
              <a:srgbClr val="000000">
                <a:alpha val="8000"/>
              </a:srgbClr>
            </a:outerShdw>
          </a:effectLst>
        </p:spPr>
        <p:txBody>
          <a:bodyPr/>
          <a:lstStyle/>
          <a:p>
            <a:endParaRPr lang="en-US"/>
          </a:p>
        </p:txBody>
      </p:sp>
      <p:sp>
        <p:nvSpPr>
          <p:cNvPr id="36" name="Text 34"/>
          <p:cNvSpPr/>
          <p:nvPr/>
        </p:nvSpPr>
        <p:spPr>
          <a:xfrm>
            <a:off x="3406140" y="2743200"/>
            <a:ext cx="2240280" cy="621792"/>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PCA</a:t>
            </a:r>
            <a:endParaRPr lang="en-US" sz="950" dirty="0"/>
          </a:p>
        </p:txBody>
      </p:sp>
      <p:sp>
        <p:nvSpPr>
          <p:cNvPr id="37" name="Shape 35"/>
          <p:cNvSpPr/>
          <p:nvPr/>
        </p:nvSpPr>
        <p:spPr>
          <a:xfrm>
            <a:off x="4526280" y="3410712"/>
            <a:ext cx="0" cy="146304"/>
          </a:xfrm>
          <a:prstGeom prst="line">
            <a:avLst/>
          </a:prstGeom>
          <a:noFill/>
          <a:ln w="19050">
            <a:solidFill>
              <a:srgbClr val="6B3FA0"/>
            </a:solidFill>
            <a:prstDash val="solid"/>
          </a:ln>
        </p:spPr>
        <p:txBody>
          <a:bodyPr/>
          <a:lstStyle/>
          <a:p>
            <a:endParaRPr lang="en-US"/>
          </a:p>
        </p:txBody>
      </p:sp>
      <p:sp>
        <p:nvSpPr>
          <p:cNvPr id="38" name="Shape 36"/>
          <p:cNvSpPr/>
          <p:nvPr/>
        </p:nvSpPr>
        <p:spPr>
          <a:xfrm>
            <a:off x="3314700" y="3557016"/>
            <a:ext cx="2423160" cy="713232"/>
          </a:xfrm>
          <a:prstGeom prst="roundRect">
            <a:avLst>
              <a:gd name="adj" fmla="val 10256"/>
            </a:avLst>
          </a:prstGeom>
          <a:solidFill>
            <a:srgbClr val="F4F7F9"/>
          </a:solidFill>
          <a:ln w="15240">
            <a:solidFill>
              <a:srgbClr val="6B3FA0"/>
            </a:solidFill>
            <a:prstDash val="solid"/>
          </a:ln>
          <a:effectLst>
            <a:outerShdw blurRad="50800" dist="25400" dir="2700000" algn="bl" rotWithShape="0">
              <a:srgbClr val="000000">
                <a:alpha val="8000"/>
              </a:srgbClr>
            </a:outerShdw>
          </a:effectLst>
        </p:spPr>
        <p:txBody>
          <a:bodyPr/>
          <a:lstStyle/>
          <a:p>
            <a:endParaRPr lang="en-US"/>
          </a:p>
        </p:txBody>
      </p:sp>
      <p:sp>
        <p:nvSpPr>
          <p:cNvPr id="39" name="Text 37"/>
          <p:cNvSpPr/>
          <p:nvPr/>
        </p:nvSpPr>
        <p:spPr>
          <a:xfrm>
            <a:off x="3406140" y="3602736"/>
            <a:ext cx="2240280" cy="621792"/>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Scatter Plot</a:t>
            </a:r>
            <a:endParaRPr lang="en-US" sz="950" dirty="0"/>
          </a:p>
        </p:txBody>
      </p:sp>
      <p:sp>
        <p:nvSpPr>
          <p:cNvPr id="40" name="Shape 38"/>
          <p:cNvSpPr/>
          <p:nvPr/>
        </p:nvSpPr>
        <p:spPr>
          <a:xfrm>
            <a:off x="6332220" y="2350008"/>
            <a:ext cx="2423160" cy="274320"/>
          </a:xfrm>
          <a:prstGeom prst="roundRect">
            <a:avLst>
              <a:gd name="adj" fmla="val 20000"/>
            </a:avLst>
          </a:prstGeom>
          <a:solidFill>
            <a:srgbClr val="0D1F3C"/>
          </a:solidFill>
          <a:ln/>
        </p:spPr>
        <p:txBody>
          <a:bodyPr/>
          <a:lstStyle/>
          <a:p>
            <a:endParaRPr lang="en-US"/>
          </a:p>
        </p:txBody>
      </p:sp>
      <p:sp>
        <p:nvSpPr>
          <p:cNvPr id="41" name="Text 39"/>
          <p:cNvSpPr/>
          <p:nvPr/>
        </p:nvSpPr>
        <p:spPr>
          <a:xfrm>
            <a:off x="6332220" y="2350008"/>
            <a:ext cx="24231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Hierarchical Branch</a:t>
            </a:r>
            <a:endParaRPr lang="en-US" sz="900" dirty="0"/>
          </a:p>
        </p:txBody>
      </p:sp>
      <p:sp>
        <p:nvSpPr>
          <p:cNvPr id="42" name="Shape 40"/>
          <p:cNvSpPr/>
          <p:nvPr/>
        </p:nvSpPr>
        <p:spPr>
          <a:xfrm>
            <a:off x="6332220" y="2697480"/>
            <a:ext cx="2423160" cy="713232"/>
          </a:xfrm>
          <a:prstGeom prst="roundRect">
            <a:avLst>
              <a:gd name="adj" fmla="val 10256"/>
            </a:avLst>
          </a:prstGeom>
          <a:solidFill>
            <a:srgbClr val="F4F7F9"/>
          </a:solidFill>
          <a:ln w="15240">
            <a:solidFill>
              <a:srgbClr val="0D1F3C"/>
            </a:solidFill>
            <a:prstDash val="solid"/>
          </a:ln>
          <a:effectLst>
            <a:outerShdw blurRad="50800" dist="25400" dir="2700000" algn="bl" rotWithShape="0">
              <a:srgbClr val="000000">
                <a:alpha val="8000"/>
              </a:srgbClr>
            </a:outerShdw>
          </a:effectLst>
        </p:spPr>
        <p:txBody>
          <a:bodyPr/>
          <a:lstStyle/>
          <a:p>
            <a:endParaRPr lang="en-US"/>
          </a:p>
        </p:txBody>
      </p:sp>
      <p:sp>
        <p:nvSpPr>
          <p:cNvPr id="43" name="Text 41"/>
          <p:cNvSpPr/>
          <p:nvPr/>
        </p:nvSpPr>
        <p:spPr>
          <a:xfrm>
            <a:off x="6423660" y="2743200"/>
            <a:ext cx="2240280" cy="621792"/>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Distances</a:t>
            </a:r>
            <a:endParaRPr lang="en-US" sz="950" dirty="0"/>
          </a:p>
        </p:txBody>
      </p:sp>
      <p:sp>
        <p:nvSpPr>
          <p:cNvPr id="44" name="Shape 42"/>
          <p:cNvSpPr/>
          <p:nvPr/>
        </p:nvSpPr>
        <p:spPr>
          <a:xfrm>
            <a:off x="7543800" y="3410712"/>
            <a:ext cx="0" cy="146304"/>
          </a:xfrm>
          <a:prstGeom prst="line">
            <a:avLst/>
          </a:prstGeom>
          <a:noFill/>
          <a:ln w="19050">
            <a:solidFill>
              <a:srgbClr val="0D1F3C"/>
            </a:solidFill>
            <a:prstDash val="solid"/>
          </a:ln>
        </p:spPr>
        <p:txBody>
          <a:bodyPr/>
          <a:lstStyle/>
          <a:p>
            <a:endParaRPr lang="en-US"/>
          </a:p>
        </p:txBody>
      </p:sp>
      <p:sp>
        <p:nvSpPr>
          <p:cNvPr id="45" name="Shape 43"/>
          <p:cNvSpPr/>
          <p:nvPr/>
        </p:nvSpPr>
        <p:spPr>
          <a:xfrm>
            <a:off x="6332220" y="3557016"/>
            <a:ext cx="2423160" cy="713232"/>
          </a:xfrm>
          <a:prstGeom prst="roundRect">
            <a:avLst>
              <a:gd name="adj" fmla="val 10256"/>
            </a:avLst>
          </a:prstGeom>
          <a:solidFill>
            <a:srgbClr val="F4F7F9"/>
          </a:solidFill>
          <a:ln w="15240">
            <a:solidFill>
              <a:srgbClr val="0D1F3C"/>
            </a:solidFill>
            <a:prstDash val="solid"/>
          </a:ln>
          <a:effectLst>
            <a:outerShdw blurRad="50800" dist="25400" dir="2700000" algn="bl" rotWithShape="0">
              <a:srgbClr val="000000">
                <a:alpha val="8000"/>
              </a:srgbClr>
            </a:outerShdw>
          </a:effectLst>
        </p:spPr>
        <p:txBody>
          <a:bodyPr/>
          <a:lstStyle/>
          <a:p>
            <a:endParaRPr lang="en-US"/>
          </a:p>
        </p:txBody>
      </p:sp>
      <p:sp>
        <p:nvSpPr>
          <p:cNvPr id="46" name="Text 44"/>
          <p:cNvSpPr/>
          <p:nvPr/>
        </p:nvSpPr>
        <p:spPr>
          <a:xfrm>
            <a:off x="6423660" y="3602736"/>
            <a:ext cx="2240280" cy="621792"/>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Hierarchical</a:t>
            </a:r>
            <a:endParaRPr lang="en-US" sz="950" dirty="0"/>
          </a:p>
          <a:p>
            <a:pPr marL="0" indent="0" algn="ctr">
              <a:buNone/>
            </a:pPr>
            <a:r>
              <a:rPr lang="en-US" sz="950" dirty="0">
                <a:solidFill>
                  <a:srgbClr val="1E293B"/>
                </a:solidFill>
                <a:latin typeface="Calibri" pitchFamily="34" charset="0"/>
                <a:ea typeface="Calibri" pitchFamily="34" charset="-122"/>
                <a:cs typeface="Calibri" pitchFamily="34" charset="-120"/>
              </a:rPr>
              <a:t>Clustering</a:t>
            </a:r>
            <a:endParaRPr lang="en-US" sz="950" dirty="0"/>
          </a:p>
        </p:txBody>
      </p:sp>
      <p:sp>
        <p:nvSpPr>
          <p:cNvPr id="47" name="Shape 45"/>
          <p:cNvSpPr/>
          <p:nvPr/>
        </p:nvSpPr>
        <p:spPr>
          <a:xfrm>
            <a:off x="7543800" y="4270248"/>
            <a:ext cx="0" cy="146304"/>
          </a:xfrm>
          <a:prstGeom prst="line">
            <a:avLst/>
          </a:prstGeom>
          <a:noFill/>
          <a:ln w="19050">
            <a:solidFill>
              <a:srgbClr val="0D1F3C"/>
            </a:solidFill>
            <a:prstDash val="solid"/>
          </a:ln>
        </p:spPr>
        <p:txBody>
          <a:bodyPr/>
          <a:lstStyle/>
          <a:p>
            <a:endParaRPr lang="en-US"/>
          </a:p>
        </p:txBody>
      </p:sp>
      <p:sp>
        <p:nvSpPr>
          <p:cNvPr id="48" name="Shape 46"/>
          <p:cNvSpPr/>
          <p:nvPr/>
        </p:nvSpPr>
        <p:spPr>
          <a:xfrm>
            <a:off x="6332220" y="4416552"/>
            <a:ext cx="2423160" cy="713232"/>
          </a:xfrm>
          <a:prstGeom prst="roundRect">
            <a:avLst>
              <a:gd name="adj" fmla="val 10256"/>
            </a:avLst>
          </a:prstGeom>
          <a:solidFill>
            <a:srgbClr val="F4F7F9"/>
          </a:solidFill>
          <a:ln w="15240">
            <a:solidFill>
              <a:srgbClr val="0D1F3C"/>
            </a:solidFill>
            <a:prstDash val="solid"/>
          </a:ln>
          <a:effectLst>
            <a:outerShdw blurRad="50800" dist="25400" dir="2700000" algn="bl" rotWithShape="0">
              <a:srgbClr val="000000">
                <a:alpha val="8000"/>
              </a:srgbClr>
            </a:outerShdw>
          </a:effectLst>
        </p:spPr>
        <p:txBody>
          <a:bodyPr/>
          <a:lstStyle/>
          <a:p>
            <a:endParaRPr lang="en-US"/>
          </a:p>
        </p:txBody>
      </p:sp>
      <p:sp>
        <p:nvSpPr>
          <p:cNvPr id="49" name="Text 47"/>
          <p:cNvSpPr/>
          <p:nvPr/>
        </p:nvSpPr>
        <p:spPr>
          <a:xfrm>
            <a:off x="6423660" y="4462272"/>
            <a:ext cx="2240280" cy="621792"/>
          </a:xfrm>
          <a:prstGeom prst="rect">
            <a:avLst/>
          </a:prstGeom>
          <a:noFill/>
          <a:ln/>
        </p:spPr>
        <p:txBody>
          <a:bodyPr wrap="square"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Data Table</a:t>
            </a:r>
            <a:endParaRPr lang="en-US" sz="950" dirty="0"/>
          </a:p>
          <a:p>
            <a:pPr marL="0" indent="0" algn="ctr">
              <a:buNone/>
            </a:pPr>
            <a:r>
              <a:rPr lang="en-US" sz="950" dirty="0">
                <a:solidFill>
                  <a:srgbClr val="1E293B"/>
                </a:solidFill>
                <a:latin typeface="Calibri" pitchFamily="34" charset="0"/>
                <a:ea typeface="Calibri" pitchFamily="34" charset="-122"/>
                <a:cs typeface="Calibri" pitchFamily="34" charset="-120"/>
              </a:rPr>
              <a:t>Box Plot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ill"/>
          <p:cNvSpPr>
            <a:spLocks noGrp="1"/>
          </p:cNvSpPr>
          <p:nvPr/>
        </p:nvSpPr>
        <p:spPr>
          <a:xfrm>
            <a:off x="457200" y="201168"/>
            <a:ext cx="2560320" cy="274320"/>
          </a:xfrm>
          <a:prstGeom prst="roundRect">
            <a:avLst>
              <a:gd name="adj" fmla="val 16667"/>
            </a:avLst>
          </a:prstGeom>
          <a:solidFill>
            <a:srgbClr val="D4F1F4"/>
          </a:solidFill>
          <a:ln>
            <a:noFill/>
          </a:ln>
        </p:spPr>
        <p:txBody>
          <a:bodyPr anchor="ctr"/>
          <a:lstStyle/>
          <a:p>
            <a:pPr algn="ctr"/>
            <a:r>
              <a:rPr lang="en-US" sz="900" b="1" dirty="0">
                <a:solidFill>
                  <a:srgbClr val="0A7E8C"/>
                </a:solidFill>
                <a:latin typeface="Calibri"/>
              </a:rPr>
              <a:t>ORANGE WORKFLOW</a:t>
            </a:r>
          </a:p>
        </p:txBody>
      </p:sp>
      <p:sp>
        <p:nvSpPr>
          <p:cNvPr id="3" name="title"/>
          <p:cNvSpPr>
            <a:spLocks noGrp="1"/>
          </p:cNvSpPr>
          <p:nvPr/>
        </p:nvSpPr>
        <p:spPr>
          <a:xfrm>
            <a:off x="457200" y="566928"/>
            <a:ext cx="8229600" cy="502920"/>
          </a:xfrm>
          <a:prstGeom prst="rect">
            <a:avLst/>
          </a:prstGeom>
          <a:noFill/>
        </p:spPr>
        <p:txBody>
          <a:bodyPr anchor="ctr"/>
          <a:lstStyle/>
          <a:p>
            <a:r>
              <a:rPr lang="en-US" sz="2200" b="1" dirty="0">
                <a:solidFill>
                  <a:srgbClr val="0D1F3C"/>
                </a:solidFill>
                <a:latin typeface="Cambria"/>
              </a:rPr>
              <a:t>Orange Canvas Workflow — Screenshot</a:t>
            </a:r>
          </a:p>
        </p:txBody>
      </p:sp>
      <p:pic>
        <p:nvPicPr>
          <p:cNvPr id="4" name="workflow_screenshot"/>
          <p:cNvPicPr>
            <a:picLocks noChangeAspect="1"/>
          </p:cNvPicPr>
          <p:nvPr/>
        </p:nvPicPr>
        <p:blipFill>
          <a:blip r:embed="rId2"/>
          <a:srcRect l="4389" r="18597" b="22015"/>
          <a:stretch>
            <a:fillRect/>
          </a:stretch>
        </p:blipFill>
        <p:spPr>
          <a:xfrm>
            <a:off x="1579098" y="1069848"/>
            <a:ext cx="5985803" cy="3950560"/>
          </a:xfrm>
          <a:prstGeom prst="rect">
            <a:avLst/>
          </a:prstGeom>
          <a:ln w="12700">
            <a:solidFill>
              <a:srgbClr val="CBD5E1"/>
            </a:solidFill>
          </a:ln>
          <a:effectLst>
            <a:outerShdw blurRad="60960" dist="27432" dir="5400000" algn="ctr" rotWithShape="0">
              <a:srgbClr val="000000">
                <a:alpha val="1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28600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286000" cy="274320"/>
          </a:xfrm>
          <a:prstGeom prst="rect">
            <a:avLst/>
          </a:prstGeom>
          <a:noFill/>
          <a:ln/>
        </p:spPr>
        <p:txBody>
          <a:bodyPr wrap="square" lIns="0" tIns="0" rIns="0" bIns="0" rtlCol="0" anchor="ctr"/>
          <a:lstStyle/>
          <a:p>
            <a:pPr marL="0" indent="0" algn="ctr">
              <a:buNone/>
            </a:pPr>
            <a:r>
              <a:rPr lang="en-US" sz="900" b="1" dirty="0">
                <a:solidFill>
                  <a:srgbClr val="0A7E8C"/>
                </a:solidFill>
              </a:rPr>
              <a:t>PREPROCESSING</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Preprocessing &amp; Sampling Decisions</a:t>
            </a:r>
            <a:endParaRPr lang="en-US" sz="2200" dirty="0"/>
          </a:p>
        </p:txBody>
      </p:sp>
      <p:sp>
        <p:nvSpPr>
          <p:cNvPr id="5" name="Shape 3"/>
          <p:cNvSpPr/>
          <p:nvPr/>
        </p:nvSpPr>
        <p:spPr>
          <a:xfrm>
            <a:off x="457200" y="1024128"/>
            <a:ext cx="4114800" cy="1828800"/>
          </a:xfrm>
          <a:prstGeom prst="roundRect">
            <a:avLst>
              <a:gd name="adj" fmla="val 5000"/>
            </a:avLst>
          </a:prstGeom>
          <a:solidFill>
            <a:srgbClr val="F4F7F9"/>
          </a:solidFill>
          <a:ln/>
          <a:effectLst>
            <a:outerShdw blurRad="76200" dist="25400" dir="2700000" algn="bl" rotWithShape="0">
              <a:srgbClr val="000000">
                <a:alpha val="9000"/>
              </a:srgbClr>
            </a:outerShdw>
          </a:effectLst>
        </p:spPr>
        <p:txBody>
          <a:bodyPr/>
          <a:lstStyle/>
          <a:p>
            <a:endParaRPr lang="en-US"/>
          </a:p>
        </p:txBody>
      </p:sp>
      <p:sp>
        <p:nvSpPr>
          <p:cNvPr id="6" name="Shape 4"/>
          <p:cNvSpPr/>
          <p:nvPr/>
        </p:nvSpPr>
        <p:spPr>
          <a:xfrm>
            <a:off x="594360" y="1161288"/>
            <a:ext cx="384048" cy="384048"/>
          </a:xfrm>
          <a:prstGeom prst="ellipse">
            <a:avLst/>
          </a:prstGeom>
          <a:solidFill>
            <a:srgbClr val="0A7E8C"/>
          </a:solidFill>
          <a:ln/>
        </p:spPr>
        <p:txBody>
          <a:bodyPr/>
          <a:lstStyle/>
          <a:p>
            <a:endParaRPr lang="en-US"/>
          </a:p>
        </p:txBody>
      </p:sp>
      <p:sp>
        <p:nvSpPr>
          <p:cNvPr id="7" name="Text 5"/>
          <p:cNvSpPr/>
          <p:nvPr/>
        </p:nvSpPr>
        <p:spPr>
          <a:xfrm>
            <a:off x="594360" y="116128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51560" y="1179576"/>
            <a:ext cx="3383280" cy="320040"/>
          </a:xfrm>
          <a:prstGeom prst="rect">
            <a:avLst/>
          </a:prstGeom>
          <a:noFill/>
          <a:ln/>
        </p:spPr>
        <p:txBody>
          <a:bodyPr wrap="square"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Load Dataset</a:t>
            </a:r>
            <a:endParaRPr lang="en-US" sz="1200" dirty="0"/>
          </a:p>
        </p:txBody>
      </p:sp>
      <p:sp>
        <p:nvSpPr>
          <p:cNvPr id="9" name="Text 7"/>
          <p:cNvSpPr/>
          <p:nvPr/>
        </p:nvSpPr>
        <p:spPr>
          <a:xfrm>
            <a:off x="621792" y="1572768"/>
            <a:ext cx="3785616" cy="1170432"/>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Imported Parkinson's Telemonitoring CSV into Orange via the File widget.</a:t>
            </a:r>
            <a:endParaRPr lang="en-US" sz="1100" dirty="0"/>
          </a:p>
        </p:txBody>
      </p:sp>
      <p:sp>
        <p:nvSpPr>
          <p:cNvPr id="10" name="Shape 8"/>
          <p:cNvSpPr/>
          <p:nvPr/>
        </p:nvSpPr>
        <p:spPr>
          <a:xfrm>
            <a:off x="4800600" y="1024128"/>
            <a:ext cx="4114800" cy="1828800"/>
          </a:xfrm>
          <a:prstGeom prst="roundRect">
            <a:avLst>
              <a:gd name="adj" fmla="val 5000"/>
            </a:avLst>
          </a:prstGeom>
          <a:solidFill>
            <a:srgbClr val="F4F7F9"/>
          </a:solidFill>
          <a:ln/>
          <a:effectLst>
            <a:outerShdw blurRad="76200" dist="25400" dir="2700000" algn="bl" rotWithShape="0">
              <a:srgbClr val="000000">
                <a:alpha val="9000"/>
              </a:srgbClr>
            </a:outerShdw>
          </a:effectLst>
        </p:spPr>
        <p:txBody>
          <a:bodyPr/>
          <a:lstStyle/>
          <a:p>
            <a:endParaRPr lang="en-US"/>
          </a:p>
        </p:txBody>
      </p:sp>
      <p:sp>
        <p:nvSpPr>
          <p:cNvPr id="11" name="Shape 9"/>
          <p:cNvSpPr/>
          <p:nvPr/>
        </p:nvSpPr>
        <p:spPr>
          <a:xfrm>
            <a:off x="4937760" y="1161288"/>
            <a:ext cx="384048" cy="384048"/>
          </a:xfrm>
          <a:prstGeom prst="ellipse">
            <a:avLst/>
          </a:prstGeom>
          <a:solidFill>
            <a:srgbClr val="0D1F3C"/>
          </a:solidFill>
          <a:ln/>
        </p:spPr>
        <p:txBody>
          <a:bodyPr/>
          <a:lstStyle/>
          <a:p>
            <a:endParaRPr lang="en-US"/>
          </a:p>
        </p:txBody>
      </p:sp>
      <p:sp>
        <p:nvSpPr>
          <p:cNvPr id="12" name="Text 10"/>
          <p:cNvSpPr/>
          <p:nvPr/>
        </p:nvSpPr>
        <p:spPr>
          <a:xfrm>
            <a:off x="4937760" y="116128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5394960" y="1179576"/>
            <a:ext cx="3383280" cy="320040"/>
          </a:xfrm>
          <a:prstGeom prst="rect">
            <a:avLst/>
          </a:prstGeom>
          <a:noFill/>
          <a:ln/>
        </p:spPr>
        <p:txBody>
          <a:bodyPr wrap="square" rtlCol="0" anchor="ctr"/>
          <a:lstStyle/>
          <a:p>
            <a:pPr marL="0" indent="0">
              <a:buNone/>
            </a:pPr>
            <a:r>
              <a:rPr lang="en-US" sz="1200" b="1" dirty="0">
                <a:solidFill>
                  <a:srgbClr val="0D1F3C"/>
                </a:solidFill>
                <a:latin typeface="Calibri" pitchFamily="34" charset="0"/>
                <a:ea typeface="Calibri" pitchFamily="34" charset="-122"/>
                <a:cs typeface="Calibri" pitchFamily="34" charset="-120"/>
              </a:rPr>
              <a:t>Select Columns</a:t>
            </a:r>
            <a:endParaRPr lang="en-US" sz="1200" dirty="0"/>
          </a:p>
        </p:txBody>
      </p:sp>
      <p:sp>
        <p:nvSpPr>
          <p:cNvPr id="14" name="Text 12"/>
          <p:cNvSpPr/>
          <p:nvPr/>
        </p:nvSpPr>
        <p:spPr>
          <a:xfrm>
            <a:off x="4965192" y="1572768"/>
            <a:ext cx="3785616" cy="1170432"/>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Set 16 voice features as Attributes (clustering inputs). Set subject#, age, sex, test_time, motor_UPDRS, total_UPDRS as Meta (reference only).</a:t>
            </a:r>
            <a:endParaRPr lang="en-US" sz="1100" dirty="0"/>
          </a:p>
        </p:txBody>
      </p:sp>
      <p:sp>
        <p:nvSpPr>
          <p:cNvPr id="15" name="Shape 13"/>
          <p:cNvSpPr/>
          <p:nvPr/>
        </p:nvSpPr>
        <p:spPr>
          <a:xfrm>
            <a:off x="457200" y="2990088"/>
            <a:ext cx="4114800" cy="1828800"/>
          </a:xfrm>
          <a:prstGeom prst="roundRect">
            <a:avLst>
              <a:gd name="adj" fmla="val 5000"/>
            </a:avLst>
          </a:prstGeom>
          <a:solidFill>
            <a:srgbClr val="F4F7F9"/>
          </a:solidFill>
          <a:ln/>
          <a:effectLst>
            <a:outerShdw blurRad="76200" dist="25400" dir="2700000" algn="bl" rotWithShape="0">
              <a:srgbClr val="000000">
                <a:alpha val="9000"/>
              </a:srgbClr>
            </a:outerShdw>
          </a:effectLst>
        </p:spPr>
        <p:txBody>
          <a:bodyPr/>
          <a:lstStyle/>
          <a:p>
            <a:endParaRPr lang="en-US"/>
          </a:p>
        </p:txBody>
      </p:sp>
      <p:sp>
        <p:nvSpPr>
          <p:cNvPr id="16" name="Shape 14"/>
          <p:cNvSpPr/>
          <p:nvPr/>
        </p:nvSpPr>
        <p:spPr>
          <a:xfrm>
            <a:off x="594360" y="3127248"/>
            <a:ext cx="384048" cy="384048"/>
          </a:xfrm>
          <a:prstGeom prst="ellipse">
            <a:avLst/>
          </a:prstGeom>
          <a:solidFill>
            <a:srgbClr val="0A7E8C"/>
          </a:solidFill>
          <a:ln/>
        </p:spPr>
        <p:txBody>
          <a:bodyPr/>
          <a:lstStyle/>
          <a:p>
            <a:endParaRPr lang="en-US"/>
          </a:p>
        </p:txBody>
      </p:sp>
      <p:sp>
        <p:nvSpPr>
          <p:cNvPr id="17" name="Text 15"/>
          <p:cNvSpPr/>
          <p:nvPr/>
        </p:nvSpPr>
        <p:spPr>
          <a:xfrm>
            <a:off x="594360" y="312724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051560" y="3145536"/>
            <a:ext cx="3383280" cy="320040"/>
          </a:xfrm>
          <a:prstGeom prst="rect">
            <a:avLst/>
          </a:prstGeom>
          <a:noFill/>
          <a:ln/>
        </p:spPr>
        <p:txBody>
          <a:bodyPr wrap="square"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Preprocess — Standardize</a:t>
            </a:r>
            <a:endParaRPr lang="en-US" sz="1200" dirty="0"/>
          </a:p>
        </p:txBody>
      </p:sp>
      <p:sp>
        <p:nvSpPr>
          <p:cNvPr id="19" name="Text 17"/>
          <p:cNvSpPr/>
          <p:nvPr/>
        </p:nvSpPr>
        <p:spPr>
          <a:xfrm>
            <a:off x="621792" y="3538728"/>
            <a:ext cx="3785616" cy="1170432"/>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Applied Z-score normalization so all 16 features contribute equally. Required because K-Means and distance-based methods are scale-sensitive.</a:t>
            </a:r>
            <a:endParaRPr lang="en-US" sz="1100" dirty="0"/>
          </a:p>
        </p:txBody>
      </p:sp>
      <p:sp>
        <p:nvSpPr>
          <p:cNvPr id="20" name="Shape 18"/>
          <p:cNvSpPr/>
          <p:nvPr/>
        </p:nvSpPr>
        <p:spPr>
          <a:xfrm>
            <a:off x="4800600" y="2990088"/>
            <a:ext cx="4114800" cy="1828800"/>
          </a:xfrm>
          <a:prstGeom prst="roundRect">
            <a:avLst>
              <a:gd name="adj" fmla="val 5000"/>
            </a:avLst>
          </a:prstGeom>
          <a:solidFill>
            <a:srgbClr val="F4F7F9"/>
          </a:solidFill>
          <a:ln/>
          <a:effectLst>
            <a:outerShdw blurRad="76200" dist="25400" dir="2700000" algn="bl" rotWithShape="0">
              <a:srgbClr val="000000">
                <a:alpha val="9000"/>
              </a:srgbClr>
            </a:outerShdw>
          </a:effectLst>
        </p:spPr>
        <p:txBody>
          <a:bodyPr/>
          <a:lstStyle/>
          <a:p>
            <a:endParaRPr lang="en-US"/>
          </a:p>
        </p:txBody>
      </p:sp>
      <p:sp>
        <p:nvSpPr>
          <p:cNvPr id="21" name="Shape 19"/>
          <p:cNvSpPr/>
          <p:nvPr/>
        </p:nvSpPr>
        <p:spPr>
          <a:xfrm>
            <a:off x="4937760" y="3127248"/>
            <a:ext cx="384048" cy="384048"/>
          </a:xfrm>
          <a:prstGeom prst="ellipse">
            <a:avLst/>
          </a:prstGeom>
          <a:solidFill>
            <a:srgbClr val="0D1F3C"/>
          </a:solidFill>
          <a:ln/>
        </p:spPr>
        <p:txBody>
          <a:bodyPr/>
          <a:lstStyle/>
          <a:p>
            <a:endParaRPr lang="en-US"/>
          </a:p>
        </p:txBody>
      </p:sp>
      <p:sp>
        <p:nvSpPr>
          <p:cNvPr id="22" name="Text 20"/>
          <p:cNvSpPr/>
          <p:nvPr/>
        </p:nvSpPr>
        <p:spPr>
          <a:xfrm>
            <a:off x="4937760" y="312724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5394960" y="3145536"/>
            <a:ext cx="3383280" cy="320040"/>
          </a:xfrm>
          <a:prstGeom prst="rect">
            <a:avLst/>
          </a:prstGeom>
          <a:noFill/>
          <a:ln/>
        </p:spPr>
        <p:txBody>
          <a:bodyPr wrap="square" rtlCol="0" anchor="ctr"/>
          <a:lstStyle/>
          <a:p>
            <a:pPr marL="0" indent="0">
              <a:buNone/>
            </a:pPr>
            <a:r>
              <a:rPr lang="en-US" sz="1200" b="1" dirty="0">
                <a:solidFill>
                  <a:srgbClr val="0D1F3C"/>
                </a:solidFill>
                <a:latin typeface="Calibri" pitchFamily="34" charset="0"/>
                <a:ea typeface="Calibri" pitchFamily="34" charset="-122"/>
                <a:cs typeface="Calibri" pitchFamily="34" charset="-120"/>
              </a:rPr>
              <a:t>Data Sampler — 4,000 rows</a:t>
            </a:r>
            <a:endParaRPr lang="en-US" sz="1200" dirty="0"/>
          </a:p>
        </p:txBody>
      </p:sp>
      <p:sp>
        <p:nvSpPr>
          <p:cNvPr id="24" name="Text 22"/>
          <p:cNvSpPr/>
          <p:nvPr/>
        </p:nvSpPr>
        <p:spPr>
          <a:xfrm>
            <a:off x="4965192" y="3538728"/>
            <a:ext cx="3785616" cy="1170432"/>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Orange's Silhouette Plot cannot compute scores for datasets above 5,000 rows. Our dataset had 5,875, so we sampled 4,000 rows with a fixed seed for reproducibility.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ill"/>
          <p:cNvSpPr>
            <a:spLocks noGrp="1"/>
          </p:cNvSpPr>
          <p:nvPr/>
        </p:nvSpPr>
        <p:spPr>
          <a:xfrm>
            <a:off x="457200" y="201168"/>
            <a:ext cx="1828800" cy="274320"/>
          </a:xfrm>
          <a:prstGeom prst="roundRect">
            <a:avLst>
              <a:gd name="adj" fmla="val 16667"/>
            </a:avLst>
          </a:prstGeom>
          <a:solidFill>
            <a:srgbClr val="D4F1F4"/>
          </a:solidFill>
          <a:ln>
            <a:noFill/>
          </a:ln>
        </p:spPr>
        <p:txBody>
          <a:bodyPr anchor="ctr"/>
          <a:lstStyle/>
          <a:p>
            <a:pPr algn="ctr"/>
            <a:r>
              <a:rPr lang="en-US" sz="900" b="1" dirty="0">
                <a:solidFill>
                  <a:srgbClr val="0A7E8C"/>
                </a:solidFill>
                <a:latin typeface="Calibri"/>
              </a:rPr>
              <a:t>SAMPLING</a:t>
            </a:r>
          </a:p>
        </p:txBody>
      </p:sp>
      <p:sp>
        <p:nvSpPr>
          <p:cNvPr id="3" name="title"/>
          <p:cNvSpPr>
            <a:spLocks noGrp="1"/>
          </p:cNvSpPr>
          <p:nvPr/>
        </p:nvSpPr>
        <p:spPr>
          <a:xfrm>
            <a:off x="457200" y="566928"/>
            <a:ext cx="8229600" cy="502920"/>
          </a:xfrm>
          <a:prstGeom prst="rect">
            <a:avLst/>
          </a:prstGeom>
          <a:noFill/>
        </p:spPr>
        <p:txBody>
          <a:bodyPr anchor="ctr"/>
          <a:lstStyle/>
          <a:p>
            <a:r>
              <a:rPr lang="en-US" sz="2200" b="1" dirty="0">
                <a:solidFill>
                  <a:srgbClr val="0D1F3C"/>
                </a:solidFill>
                <a:latin typeface="Cambria"/>
              </a:rPr>
              <a:t>Data Sampler Settings</a:t>
            </a:r>
          </a:p>
        </p:txBody>
      </p:sp>
      <p:sp>
        <p:nvSpPr>
          <p:cNvPr id="4" name="explbox"/>
          <p:cNvSpPr>
            <a:spLocks noGrp="1"/>
          </p:cNvSpPr>
          <p:nvPr/>
        </p:nvSpPr>
        <p:spPr>
          <a:xfrm>
            <a:off x="457200" y="1005840"/>
            <a:ext cx="4297680" cy="3809228"/>
          </a:xfrm>
          <a:prstGeom prst="roundRect">
            <a:avLst>
              <a:gd name="adj" fmla="val 8333"/>
            </a:avLst>
          </a:prstGeom>
          <a:solidFill>
            <a:srgbClr val="0D1F3C"/>
          </a:solidFill>
          <a:ln>
            <a:noFill/>
          </a:ln>
          <a:effectLst>
            <a:outerShdw blurRad="60960" dist="27432" dir="5400000" rotWithShape="0">
              <a:srgbClr val="000000">
                <a:alpha val="12000"/>
              </a:srgbClr>
            </a:outerShdw>
          </a:effectLst>
        </p:spPr>
        <p:txBody>
          <a:bodyPr wrap="square" lIns="182880" tIns="182880" rIns="182880" bIns="182880" anchor="ctr"/>
          <a:lstStyle/>
          <a:p>
            <a:r>
              <a:rPr lang="en-US" sz="1300" b="1" dirty="0">
                <a:solidFill>
                  <a:srgbClr val="D4F1F4"/>
                </a:solidFill>
                <a:latin typeface="Calibri"/>
              </a:rPr>
              <a:t>Why we sampled</a:t>
            </a:r>
          </a:p>
          <a:p>
            <a:endParaRPr lang="en-US" sz="1100" dirty="0">
              <a:solidFill>
                <a:srgbClr val="FFFFFF"/>
              </a:solidFill>
              <a:latin typeface="Calibri"/>
            </a:endParaRPr>
          </a:p>
          <a:p>
            <a:r>
              <a:rPr lang="en-US" sz="1200" dirty="0">
                <a:solidFill>
                  <a:srgbClr val="FFFFFF"/>
                </a:solidFill>
                <a:latin typeface="Calibri"/>
              </a:rPr>
              <a:t>Orange’s Silhouette Plot cannot compute scores for datasets above 5,000 rows.</a:t>
            </a:r>
          </a:p>
          <a:p>
            <a:endParaRPr lang="en-US" sz="1100" dirty="0">
              <a:solidFill>
                <a:srgbClr val="FFFFFF"/>
              </a:solidFill>
            </a:endParaRPr>
          </a:p>
          <a:p>
            <a:r>
              <a:rPr lang="en-US" sz="1200" dirty="0">
                <a:solidFill>
                  <a:srgbClr val="FFFFFF"/>
                </a:solidFill>
                <a:latin typeface="Calibri"/>
              </a:rPr>
              <a:t>Our dataset had 5,875 rows — just over the limit. We sampled 4,000 rows with a fixed seed for reproducibility.</a:t>
            </a:r>
          </a:p>
          <a:p>
            <a:endParaRPr lang="en-US" sz="1100" dirty="0">
              <a:solidFill>
                <a:srgbClr val="FFFFFF"/>
              </a:solidFill>
            </a:endParaRPr>
          </a:p>
          <a:p>
            <a:r>
              <a:rPr lang="en-US" sz="1100" b="1" dirty="0">
                <a:solidFill>
                  <a:srgbClr val="D4F1F4"/>
                </a:solidFill>
                <a:latin typeface="Calibri"/>
              </a:rPr>
              <a:t>Settings:</a:t>
            </a:r>
          </a:p>
          <a:p>
            <a:r>
              <a:rPr lang="en-US" sz="1100" dirty="0">
                <a:solidFill>
                  <a:srgbClr val="FFFFFF"/>
                </a:solidFill>
                <a:latin typeface="Calibri"/>
              </a:rPr>
              <a:t>•  Fixed sample size: 4,000</a:t>
            </a:r>
          </a:p>
          <a:p>
            <a:r>
              <a:rPr lang="en-US" sz="1100" dirty="0">
                <a:solidFill>
                  <a:srgbClr val="FFFFFF"/>
                </a:solidFill>
                <a:latin typeface="Calibri"/>
              </a:rPr>
              <a:t>•  Replicable (deterministic) sampling: ON</a:t>
            </a:r>
          </a:p>
          <a:p>
            <a:r>
              <a:rPr lang="en-US" sz="1100" dirty="0">
                <a:solidFill>
                  <a:srgbClr val="FFFFFF"/>
                </a:solidFill>
                <a:latin typeface="Calibri"/>
              </a:rPr>
              <a:t>•  Sample with replacement: OFF</a:t>
            </a:r>
          </a:p>
        </p:txBody>
      </p:sp>
      <p:pic>
        <p:nvPicPr>
          <p:cNvPr id="5" name="sampler_screenshot"/>
          <p:cNvPicPr>
            <a:picLocks noChangeAspect="1"/>
          </p:cNvPicPr>
          <p:nvPr/>
        </p:nvPicPr>
        <p:blipFill>
          <a:blip r:embed="rId2"/>
          <a:stretch>
            <a:fillRect/>
          </a:stretch>
        </p:blipFill>
        <p:spPr>
          <a:xfrm>
            <a:off x="5582412" y="475488"/>
            <a:ext cx="2551176" cy="4572000"/>
          </a:xfrm>
          <a:prstGeom prst="rect">
            <a:avLst/>
          </a:prstGeom>
          <a:ln w="9525">
            <a:solidFill>
              <a:srgbClr val="CBD5E1"/>
            </a:solidFill>
          </a:ln>
          <a:effectLst>
            <a:outerShdw blurRad="60960" dist="27432" dir="5400000" rotWithShape="0">
              <a:srgbClr val="000000">
                <a:alpha val="12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19456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194560" cy="274320"/>
          </a:xfrm>
          <a:prstGeom prst="rect">
            <a:avLst/>
          </a:prstGeom>
          <a:noFill/>
          <a:ln/>
        </p:spPr>
        <p:txBody>
          <a:bodyPr wrap="square" lIns="0" tIns="0" rIns="0" bIns="0" rtlCol="0" anchor="ctr"/>
          <a:lstStyle/>
          <a:p>
            <a:pPr marL="0" indent="0" algn="ctr">
              <a:buNone/>
            </a:pPr>
            <a:r>
              <a:rPr lang="en-US" sz="900" b="1" dirty="0">
                <a:solidFill>
                  <a:srgbClr val="0A7E8C"/>
                </a:solidFill>
              </a:rPr>
              <a:t>K-MEANS</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K-Means: Method &amp; Parameter Testing</a:t>
            </a:r>
            <a:endParaRPr lang="en-US" sz="2200" dirty="0"/>
          </a:p>
        </p:txBody>
      </p:sp>
      <p:sp>
        <p:nvSpPr>
          <p:cNvPr id="5" name="Shape 3"/>
          <p:cNvSpPr/>
          <p:nvPr/>
        </p:nvSpPr>
        <p:spPr>
          <a:xfrm>
            <a:off x="457200" y="1024128"/>
            <a:ext cx="3931920" cy="2057400"/>
          </a:xfrm>
          <a:prstGeom prst="roundRect">
            <a:avLst>
              <a:gd name="adj" fmla="val 5333"/>
            </a:avLst>
          </a:prstGeom>
          <a:solidFill>
            <a:srgbClr val="0D1F3C"/>
          </a:solidFill>
          <a:ln/>
          <a:effectLst>
            <a:outerShdw blurRad="101600" dist="38100" dir="2700000" algn="bl" rotWithShape="0">
              <a:srgbClr val="000000">
                <a:alpha val="13000"/>
              </a:srgbClr>
            </a:outerShdw>
          </a:effectLst>
        </p:spPr>
        <p:txBody>
          <a:bodyPr/>
          <a:lstStyle/>
          <a:p>
            <a:endParaRPr lang="en-US"/>
          </a:p>
        </p:txBody>
      </p:sp>
      <p:sp>
        <p:nvSpPr>
          <p:cNvPr id="6" name="Text 4"/>
          <p:cNvSpPr/>
          <p:nvPr/>
        </p:nvSpPr>
        <p:spPr>
          <a:xfrm>
            <a:off x="640080" y="1115568"/>
            <a:ext cx="3566160" cy="274320"/>
          </a:xfrm>
          <a:prstGeom prst="rect">
            <a:avLst/>
          </a:prstGeom>
          <a:noFill/>
          <a:ln/>
        </p:spPr>
        <p:txBody>
          <a:bodyPr wrap="square" rtlCol="0" anchor="ctr"/>
          <a:lstStyle/>
          <a:p>
            <a:pPr marL="0" indent="0">
              <a:buNone/>
            </a:pPr>
            <a:r>
              <a:rPr lang="en-US" sz="1300" b="1" dirty="0">
                <a:solidFill>
                  <a:srgbClr val="D4F1F4"/>
                </a:solidFill>
                <a:latin typeface="Calibri" pitchFamily="34" charset="0"/>
                <a:ea typeface="Calibri" pitchFamily="34" charset="-122"/>
                <a:cs typeface="Calibri" pitchFamily="34" charset="-120"/>
              </a:rPr>
              <a:t>K-Means Algorithm</a:t>
            </a:r>
            <a:endParaRPr lang="en-US" sz="1300" dirty="0"/>
          </a:p>
        </p:txBody>
      </p:sp>
      <p:sp>
        <p:nvSpPr>
          <p:cNvPr id="7" name="Text 5"/>
          <p:cNvSpPr/>
          <p:nvPr/>
        </p:nvSpPr>
        <p:spPr>
          <a:xfrm>
            <a:off x="640080" y="1435608"/>
            <a:ext cx="3566160" cy="1508760"/>
          </a:xfrm>
          <a:prstGeom prst="rect">
            <a:avLst/>
          </a:prstGeom>
          <a:noFill/>
          <a:ln/>
        </p:spPr>
        <p:txBody>
          <a:bodyPr wrap="square" rtlCol="0" anchor="t"/>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Assigns each point to its nearest centroid</a:t>
            </a:r>
            <a:endParaRPr lang="en-US" sz="1150" dirty="0"/>
          </a:p>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Iteratively re-computes centroids until stable</a:t>
            </a:r>
            <a:endParaRPr lang="en-US" sz="1150" dirty="0"/>
          </a:p>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Minimizes within-cluster variance</a:t>
            </a:r>
            <a:endParaRPr lang="en-US" sz="1150" dirty="0"/>
          </a:p>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Requires specifying k in advance</a:t>
            </a:r>
            <a:endParaRPr lang="en-US" sz="1150" dirty="0"/>
          </a:p>
        </p:txBody>
      </p:sp>
      <p:sp>
        <p:nvSpPr>
          <p:cNvPr id="8" name="Shape 6"/>
          <p:cNvSpPr/>
          <p:nvPr/>
        </p:nvSpPr>
        <p:spPr>
          <a:xfrm>
            <a:off x="4526280" y="1024128"/>
            <a:ext cx="4160520" cy="2057400"/>
          </a:xfrm>
          <a:prstGeom prst="roundRect">
            <a:avLst>
              <a:gd name="adj" fmla="val 5333"/>
            </a:avLst>
          </a:prstGeom>
          <a:solidFill>
            <a:srgbClr val="F4F7F9"/>
          </a:solidFill>
          <a:ln/>
          <a:effectLst>
            <a:outerShdw blurRad="101600" dist="38100" dir="2700000" algn="bl" rotWithShape="0">
              <a:srgbClr val="000000">
                <a:alpha val="10000"/>
              </a:srgbClr>
            </a:outerShdw>
          </a:effectLst>
        </p:spPr>
        <p:txBody>
          <a:bodyPr/>
          <a:lstStyle/>
          <a:p>
            <a:endParaRPr lang="en-US"/>
          </a:p>
        </p:txBody>
      </p:sp>
      <p:sp>
        <p:nvSpPr>
          <p:cNvPr id="9" name="Text 7"/>
          <p:cNvSpPr/>
          <p:nvPr/>
        </p:nvSpPr>
        <p:spPr>
          <a:xfrm>
            <a:off x="4709160" y="1115568"/>
            <a:ext cx="3794760" cy="274320"/>
          </a:xfrm>
          <a:prstGeom prst="rect">
            <a:avLst/>
          </a:prstGeom>
          <a:noFill/>
          <a:ln/>
        </p:spPr>
        <p:txBody>
          <a:bodyPr wrap="square" rtlCol="0" anchor="ctr"/>
          <a:lstStyle/>
          <a:p>
            <a:pPr marL="0" indent="0">
              <a:buNone/>
            </a:pPr>
            <a:r>
              <a:rPr lang="en-US" sz="1300" b="1" dirty="0">
                <a:solidFill>
                  <a:srgbClr val="0A7E8C"/>
                </a:solidFill>
                <a:latin typeface="Calibri" pitchFamily="34" charset="0"/>
                <a:ea typeface="Calibri" pitchFamily="34" charset="-122"/>
                <a:cs typeface="Calibri" pitchFamily="34" charset="-120"/>
              </a:rPr>
              <a:t>Choosing k — Silhouette Score</a:t>
            </a:r>
            <a:endParaRPr lang="en-US" sz="1300" dirty="0"/>
          </a:p>
        </p:txBody>
      </p:sp>
      <p:sp>
        <p:nvSpPr>
          <p:cNvPr id="10" name="Text 8"/>
          <p:cNvSpPr/>
          <p:nvPr/>
        </p:nvSpPr>
        <p:spPr>
          <a:xfrm>
            <a:off x="4709160" y="1435608"/>
            <a:ext cx="2514600" cy="1508760"/>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Silhouette score measures how tightly a point fits its own cluster vs. neighbouring clusters. Ranges –1 to +1; higher means better-defined clusters.</a:t>
            </a:r>
            <a:endParaRPr lang="en-US" sz="1150" dirty="0"/>
          </a:p>
          <a:p>
            <a:pPr marL="0" indent="0">
              <a:buNone/>
            </a:pP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We tested k = 2 through 6 and picked the highest scoring k.</a:t>
            </a:r>
            <a:endParaRPr lang="en-US" sz="1150" dirty="0"/>
          </a:p>
        </p:txBody>
      </p:sp>
      <p:sp>
        <p:nvSpPr>
          <p:cNvPr id="11" name="Text 9"/>
          <p:cNvSpPr/>
          <p:nvPr/>
        </p:nvSpPr>
        <p:spPr>
          <a:xfrm>
            <a:off x="457200" y="3273552"/>
            <a:ext cx="1828800" cy="320040"/>
          </a:xfrm>
          <a:prstGeom prst="rect">
            <a:avLst/>
          </a:prstGeom>
          <a:noFill/>
          <a:ln/>
        </p:spPr>
        <p:txBody>
          <a:bodyPr wrap="square" rtlCol="0" anchor="ctr"/>
          <a:lstStyle/>
          <a:p>
            <a:pPr marL="0" indent="0">
              <a:buNone/>
            </a:pPr>
            <a:r>
              <a:rPr lang="en-US" sz="1200" b="1" dirty="0">
                <a:solidFill>
                  <a:srgbClr val="475569"/>
                </a:solidFill>
                <a:latin typeface="Calibri" pitchFamily="34" charset="0"/>
                <a:ea typeface="Calibri" pitchFamily="34" charset="-122"/>
                <a:cs typeface="Calibri" pitchFamily="34" charset="-120"/>
              </a:rPr>
              <a:t>k values tested:</a:t>
            </a:r>
            <a:endParaRPr lang="en-US" sz="1200" dirty="0"/>
          </a:p>
        </p:txBody>
      </p:sp>
      <p:sp>
        <p:nvSpPr>
          <p:cNvPr id="12" name="Shape 10"/>
          <p:cNvSpPr/>
          <p:nvPr/>
        </p:nvSpPr>
        <p:spPr>
          <a:xfrm>
            <a:off x="2286000" y="3246120"/>
            <a:ext cx="658368" cy="658368"/>
          </a:xfrm>
          <a:prstGeom prst="ellipse">
            <a:avLst/>
          </a:prstGeom>
          <a:solidFill>
            <a:srgbClr val="0A7E8C"/>
          </a:solidFill>
          <a:ln/>
        </p:spPr>
        <p:txBody>
          <a:bodyPr/>
          <a:lstStyle/>
          <a:p>
            <a:endParaRPr lang="en-US"/>
          </a:p>
        </p:txBody>
      </p:sp>
      <p:sp>
        <p:nvSpPr>
          <p:cNvPr id="13" name="Text 11"/>
          <p:cNvSpPr/>
          <p:nvPr/>
        </p:nvSpPr>
        <p:spPr>
          <a:xfrm>
            <a:off x="2286000" y="324612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Shape 12"/>
          <p:cNvSpPr/>
          <p:nvPr/>
        </p:nvSpPr>
        <p:spPr>
          <a:xfrm>
            <a:off x="3520440" y="3246120"/>
            <a:ext cx="658368" cy="658368"/>
          </a:xfrm>
          <a:prstGeom prst="ellipse">
            <a:avLst/>
          </a:prstGeom>
          <a:solidFill>
            <a:srgbClr val="0D1F3C"/>
          </a:solidFill>
          <a:ln/>
        </p:spPr>
        <p:txBody>
          <a:bodyPr/>
          <a:lstStyle/>
          <a:p>
            <a:endParaRPr lang="en-US"/>
          </a:p>
        </p:txBody>
      </p:sp>
      <p:sp>
        <p:nvSpPr>
          <p:cNvPr id="15" name="Text 13"/>
          <p:cNvSpPr/>
          <p:nvPr/>
        </p:nvSpPr>
        <p:spPr>
          <a:xfrm>
            <a:off x="3520440" y="324612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4754880" y="3246120"/>
            <a:ext cx="658368" cy="658368"/>
          </a:xfrm>
          <a:prstGeom prst="ellipse">
            <a:avLst/>
          </a:prstGeom>
          <a:solidFill>
            <a:srgbClr val="0D1F3C"/>
          </a:solidFill>
          <a:ln/>
        </p:spPr>
        <p:txBody>
          <a:bodyPr/>
          <a:lstStyle/>
          <a:p>
            <a:endParaRPr lang="en-US"/>
          </a:p>
        </p:txBody>
      </p:sp>
      <p:sp>
        <p:nvSpPr>
          <p:cNvPr id="17" name="Text 15"/>
          <p:cNvSpPr/>
          <p:nvPr/>
        </p:nvSpPr>
        <p:spPr>
          <a:xfrm>
            <a:off x="4754880" y="324612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Shape 16"/>
          <p:cNvSpPr/>
          <p:nvPr/>
        </p:nvSpPr>
        <p:spPr>
          <a:xfrm>
            <a:off x="5989320" y="3246120"/>
            <a:ext cx="658368" cy="658368"/>
          </a:xfrm>
          <a:prstGeom prst="ellipse">
            <a:avLst/>
          </a:prstGeom>
          <a:solidFill>
            <a:srgbClr val="0D1F3C"/>
          </a:solidFill>
          <a:ln/>
        </p:spPr>
        <p:txBody>
          <a:bodyPr/>
          <a:lstStyle/>
          <a:p>
            <a:endParaRPr lang="en-US"/>
          </a:p>
        </p:txBody>
      </p:sp>
      <p:sp>
        <p:nvSpPr>
          <p:cNvPr id="19" name="Text 17"/>
          <p:cNvSpPr/>
          <p:nvPr/>
        </p:nvSpPr>
        <p:spPr>
          <a:xfrm>
            <a:off x="5989320" y="324612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0" name="Shape 18"/>
          <p:cNvSpPr/>
          <p:nvPr/>
        </p:nvSpPr>
        <p:spPr>
          <a:xfrm>
            <a:off x="7223760" y="3246120"/>
            <a:ext cx="658368" cy="658368"/>
          </a:xfrm>
          <a:prstGeom prst="ellipse">
            <a:avLst/>
          </a:prstGeom>
          <a:solidFill>
            <a:srgbClr val="0D1F3C"/>
          </a:solidFill>
          <a:ln/>
        </p:spPr>
        <p:txBody>
          <a:bodyPr/>
          <a:lstStyle/>
          <a:p>
            <a:endParaRPr lang="en-US"/>
          </a:p>
        </p:txBody>
      </p:sp>
      <p:sp>
        <p:nvSpPr>
          <p:cNvPr id="21" name="Text 19"/>
          <p:cNvSpPr/>
          <p:nvPr/>
        </p:nvSpPr>
        <p:spPr>
          <a:xfrm>
            <a:off x="7223760" y="3246120"/>
            <a:ext cx="658368" cy="65836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Text 20"/>
          <p:cNvSpPr/>
          <p:nvPr/>
        </p:nvSpPr>
        <p:spPr>
          <a:xfrm>
            <a:off x="8229600" y="3310128"/>
            <a:ext cx="777240" cy="320040"/>
          </a:xfrm>
          <a:prstGeom prst="rect">
            <a:avLst/>
          </a:prstGeom>
          <a:noFill/>
          <a:ln/>
        </p:spPr>
        <p:txBody>
          <a:bodyPr wrap="square" rtlCol="0" anchor="ctr"/>
          <a:lstStyle/>
          <a:p>
            <a:pPr marL="0" indent="0">
              <a:buNone/>
            </a:pPr>
            <a:r>
              <a:rPr lang="en-US" sz="1100" i="1" dirty="0">
                <a:solidFill>
                  <a:srgbClr val="0A7E8C"/>
                </a:solidFill>
                <a:latin typeface="Calibri" pitchFamily="34" charset="0"/>
                <a:ea typeface="Calibri" pitchFamily="34" charset="-122"/>
                <a:cs typeface="Calibri" pitchFamily="34" charset="-120"/>
              </a:rPr>
              <a:t>← Best</a:t>
            </a:r>
            <a:endParaRPr lang="en-US" sz="1100" dirty="0"/>
          </a:p>
        </p:txBody>
      </p:sp>
      <p:pic>
        <p:nvPicPr>
          <p:cNvPr id="28" name="Picture 27">
            <a:extLst>
              <a:ext uri="{FF2B5EF4-FFF2-40B4-BE49-F238E27FC236}">
                <a16:creationId xmlns:a16="http://schemas.microsoft.com/office/drawing/2014/main" id="{8444B023-DD08-7EA1-DF9B-47E26A31A654}"/>
              </a:ext>
            </a:extLst>
          </p:cNvPr>
          <p:cNvPicPr>
            <a:picLocks noChangeAspect="1"/>
          </p:cNvPicPr>
          <p:nvPr/>
        </p:nvPicPr>
        <p:blipFill>
          <a:blip r:embed="rId3"/>
          <a:stretch>
            <a:fillRect/>
          </a:stretch>
        </p:blipFill>
        <p:spPr>
          <a:xfrm>
            <a:off x="7845552" y="1005840"/>
            <a:ext cx="822960" cy="20756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37744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377440" cy="274320"/>
          </a:xfrm>
          <a:prstGeom prst="rect">
            <a:avLst/>
          </a:prstGeom>
          <a:noFill/>
          <a:ln/>
        </p:spPr>
        <p:txBody>
          <a:bodyPr wrap="square" lIns="0" tIns="0" rIns="0" bIns="0" rtlCol="0" anchor="ctr"/>
          <a:lstStyle/>
          <a:p>
            <a:pPr marL="0" indent="0" algn="ctr">
              <a:buNone/>
            </a:pPr>
            <a:r>
              <a:rPr lang="en-US" sz="900" b="1" dirty="0">
                <a:solidFill>
                  <a:srgbClr val="0A7E8C"/>
                </a:solidFill>
              </a:rPr>
              <a:t>K-MEANS RESULTS</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K-Means Silhouette Scores: k = 2 to 6</a:t>
            </a:r>
            <a:endParaRPr lang="en-US" sz="2200" dirty="0"/>
          </a:p>
        </p:txBody>
      </p:sp>
      <p:sp>
        <p:nvSpPr>
          <p:cNvPr id="7" name="Shape 3"/>
          <p:cNvSpPr/>
          <p:nvPr/>
        </p:nvSpPr>
        <p:spPr>
          <a:xfrm>
            <a:off x="5808176" y="2057400"/>
            <a:ext cx="2926080" cy="777240"/>
          </a:xfrm>
          <a:prstGeom prst="roundRect">
            <a:avLst>
              <a:gd name="adj" fmla="val 11765"/>
            </a:avLst>
          </a:prstGeom>
          <a:solidFill>
            <a:srgbClr val="0A7E8C"/>
          </a:solidFill>
          <a:ln/>
          <a:effectLst>
            <a:outerShdw blurRad="76200" dist="25400" dir="2700000" algn="bl" rotWithShape="0">
              <a:srgbClr val="000000">
                <a:alpha val="12000"/>
              </a:srgbClr>
            </a:outerShdw>
          </a:effectLst>
        </p:spPr>
        <p:txBody>
          <a:bodyPr/>
          <a:lstStyle/>
          <a:p>
            <a:endParaRPr lang="en-US"/>
          </a:p>
        </p:txBody>
      </p:sp>
      <p:sp>
        <p:nvSpPr>
          <p:cNvPr id="8" name="Text 4"/>
          <p:cNvSpPr/>
          <p:nvPr/>
        </p:nvSpPr>
        <p:spPr>
          <a:xfrm>
            <a:off x="5808176" y="2080549"/>
            <a:ext cx="2926080" cy="777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 = 2 selected as optimal</a:t>
            </a:r>
            <a:endParaRPr lang="en-US" sz="1300" dirty="0"/>
          </a:p>
        </p:txBody>
      </p:sp>
      <p:pic>
        <p:nvPicPr>
          <p:cNvPr id="12" name="Picture 11">
            <a:extLst>
              <a:ext uri="{FF2B5EF4-FFF2-40B4-BE49-F238E27FC236}">
                <a16:creationId xmlns:a16="http://schemas.microsoft.com/office/drawing/2014/main" id="{E305E446-F183-3A99-8AAD-A9F440AA8484}"/>
              </a:ext>
            </a:extLst>
          </p:cNvPr>
          <p:cNvPicPr>
            <a:picLocks noChangeAspect="1"/>
          </p:cNvPicPr>
          <p:nvPr/>
        </p:nvPicPr>
        <p:blipFill>
          <a:blip r:embed="rId3"/>
          <a:stretch>
            <a:fillRect/>
          </a:stretch>
        </p:blipFill>
        <p:spPr>
          <a:xfrm>
            <a:off x="662752" y="1013460"/>
            <a:ext cx="4838888" cy="349758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37744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377440" cy="274320"/>
          </a:xfrm>
          <a:prstGeom prst="rect">
            <a:avLst/>
          </a:prstGeom>
          <a:noFill/>
          <a:ln/>
        </p:spPr>
        <p:txBody>
          <a:bodyPr wrap="square" lIns="0" tIns="0" rIns="0" bIns="0" rtlCol="0" anchor="ctr"/>
          <a:lstStyle/>
          <a:p>
            <a:pPr marL="0" indent="0" algn="ctr">
              <a:buNone/>
            </a:pPr>
            <a:r>
              <a:rPr lang="en-US" sz="900" b="1" dirty="0">
                <a:solidFill>
                  <a:srgbClr val="0A7E8C"/>
                </a:solidFill>
              </a:rPr>
              <a:t>CLUSTER PROFILES</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K-Means: Cluster Profiles from Voice Features</a:t>
            </a:r>
            <a:endParaRPr lang="en-US" sz="2200" dirty="0"/>
          </a:p>
        </p:txBody>
      </p:sp>
      <p:sp>
        <p:nvSpPr>
          <p:cNvPr id="5" name="Shape 3"/>
          <p:cNvSpPr/>
          <p:nvPr/>
        </p:nvSpPr>
        <p:spPr>
          <a:xfrm>
            <a:off x="457200" y="1005840"/>
            <a:ext cx="4023360" cy="3749040"/>
          </a:xfrm>
          <a:prstGeom prst="roundRect">
            <a:avLst>
              <a:gd name="adj" fmla="val 2927"/>
            </a:avLst>
          </a:prstGeom>
          <a:solidFill>
            <a:srgbClr val="FFF3F3"/>
          </a:solidFill>
          <a:ln/>
          <a:effectLst>
            <a:outerShdw blurRad="76200" dist="25400" dir="2700000" algn="bl" rotWithShape="0">
              <a:srgbClr val="000000">
                <a:alpha val="10000"/>
              </a:srgbClr>
            </a:outerShdw>
          </a:effectLst>
        </p:spPr>
        <p:txBody>
          <a:bodyPr/>
          <a:lstStyle/>
          <a:p>
            <a:endParaRPr lang="en-US"/>
          </a:p>
        </p:txBody>
      </p:sp>
      <p:sp>
        <p:nvSpPr>
          <p:cNvPr id="6" name="Shape 4"/>
          <p:cNvSpPr/>
          <p:nvPr/>
        </p:nvSpPr>
        <p:spPr>
          <a:xfrm>
            <a:off x="457200" y="1005840"/>
            <a:ext cx="4023360" cy="457200"/>
          </a:xfrm>
          <a:prstGeom prst="roundRect">
            <a:avLst>
              <a:gd name="adj" fmla="val 24000"/>
            </a:avLst>
          </a:prstGeom>
          <a:solidFill>
            <a:srgbClr val="E05C5C"/>
          </a:solidFill>
          <a:ln/>
        </p:spPr>
        <p:txBody>
          <a:bodyPr/>
          <a:lstStyle/>
          <a:p>
            <a:endParaRPr lang="en-US"/>
          </a:p>
        </p:txBody>
      </p:sp>
      <p:sp>
        <p:nvSpPr>
          <p:cNvPr id="7" name="Text 5"/>
          <p:cNvSpPr/>
          <p:nvPr/>
        </p:nvSpPr>
        <p:spPr>
          <a:xfrm>
            <a:off x="594360" y="1033272"/>
            <a:ext cx="3749040" cy="38404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C1 — Higher Acoustic Impairment</a:t>
            </a:r>
            <a:endParaRPr lang="en-US" sz="1250" dirty="0"/>
          </a:p>
        </p:txBody>
      </p:sp>
      <p:sp>
        <p:nvSpPr>
          <p:cNvPr id="8" name="Text 6"/>
          <p:cNvSpPr/>
          <p:nvPr/>
        </p:nvSpPr>
        <p:spPr>
          <a:xfrm>
            <a:off x="594360" y="1536192"/>
            <a:ext cx="3749040" cy="2423160"/>
          </a:xfrm>
          <a:prstGeom prst="rect">
            <a:avLst/>
          </a:prstGeom>
          <a:noFill/>
          <a:ln/>
        </p:spPr>
        <p:txBody>
          <a:bodyPr wrap="square" rtlCol="0" anchor="t"/>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Higher Jitter(%) — more pitch instability</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Higher Shimmer — more amplitude variation</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Higher NHR — more noise in voice</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Higher RPDE &amp; PPE — more complexity</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Lower HNR — less clarity</a:t>
            </a:r>
            <a:endParaRPr lang="en-US" sz="1150" dirty="0"/>
          </a:p>
        </p:txBody>
      </p:sp>
      <p:sp>
        <p:nvSpPr>
          <p:cNvPr id="9" name="Text 7"/>
          <p:cNvSpPr/>
          <p:nvPr/>
        </p:nvSpPr>
        <p:spPr>
          <a:xfrm>
            <a:off x="594360" y="4041648"/>
            <a:ext cx="3749040" cy="502920"/>
          </a:xfrm>
          <a:prstGeom prst="rect">
            <a:avLst/>
          </a:prstGeom>
          <a:noFill/>
          <a:ln/>
        </p:spPr>
        <p:txBody>
          <a:bodyPr wrap="square" rtlCol="0" anchor="ctr"/>
          <a:lstStyle/>
          <a:p>
            <a:pPr marL="0" indent="0">
              <a:buNone/>
            </a:pPr>
            <a:r>
              <a:rPr lang="en-US" sz="1100" i="1" dirty="0">
                <a:solidFill>
                  <a:srgbClr val="E05C5C"/>
                </a:solidFill>
                <a:latin typeface="Calibri" pitchFamily="34" charset="0"/>
                <a:ea typeface="Calibri" pitchFamily="34" charset="-122"/>
                <a:cs typeface="Calibri" pitchFamily="34" charset="-120"/>
              </a:rPr>
              <a:t>Acoustic instability · noise · low clarity</a:t>
            </a:r>
            <a:endParaRPr lang="en-US" sz="1100" dirty="0"/>
          </a:p>
        </p:txBody>
      </p:sp>
      <p:sp>
        <p:nvSpPr>
          <p:cNvPr id="10" name="Shape 8"/>
          <p:cNvSpPr/>
          <p:nvPr/>
        </p:nvSpPr>
        <p:spPr>
          <a:xfrm>
            <a:off x="4663440" y="1005840"/>
            <a:ext cx="4023360" cy="3749040"/>
          </a:xfrm>
          <a:prstGeom prst="roundRect">
            <a:avLst>
              <a:gd name="adj" fmla="val 2927"/>
            </a:avLst>
          </a:prstGeom>
          <a:solidFill>
            <a:srgbClr val="EEF9FA"/>
          </a:solidFill>
          <a:ln/>
          <a:effectLst>
            <a:outerShdw blurRad="76200" dist="25400" dir="2700000" algn="bl" rotWithShape="0">
              <a:srgbClr val="000000">
                <a:alpha val="10000"/>
              </a:srgbClr>
            </a:outerShdw>
          </a:effectLst>
        </p:spPr>
        <p:txBody>
          <a:bodyPr/>
          <a:lstStyle/>
          <a:p>
            <a:endParaRPr lang="en-US"/>
          </a:p>
        </p:txBody>
      </p:sp>
      <p:sp>
        <p:nvSpPr>
          <p:cNvPr id="11" name="Shape 9"/>
          <p:cNvSpPr/>
          <p:nvPr/>
        </p:nvSpPr>
        <p:spPr>
          <a:xfrm>
            <a:off x="4663440" y="1005840"/>
            <a:ext cx="4023360" cy="457200"/>
          </a:xfrm>
          <a:prstGeom prst="roundRect">
            <a:avLst>
              <a:gd name="adj" fmla="val 24000"/>
            </a:avLst>
          </a:prstGeom>
          <a:solidFill>
            <a:srgbClr val="0A7E8C"/>
          </a:solidFill>
          <a:ln/>
        </p:spPr>
        <p:txBody>
          <a:bodyPr/>
          <a:lstStyle/>
          <a:p>
            <a:endParaRPr lang="en-US"/>
          </a:p>
        </p:txBody>
      </p:sp>
      <p:sp>
        <p:nvSpPr>
          <p:cNvPr id="12" name="Text 10"/>
          <p:cNvSpPr/>
          <p:nvPr/>
        </p:nvSpPr>
        <p:spPr>
          <a:xfrm>
            <a:off x="4800600" y="1033272"/>
            <a:ext cx="3749040" cy="38404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C2 — Lower Acoustic Impairment</a:t>
            </a:r>
            <a:endParaRPr lang="en-US" sz="1250" dirty="0"/>
          </a:p>
        </p:txBody>
      </p:sp>
      <p:sp>
        <p:nvSpPr>
          <p:cNvPr id="13" name="Text 11"/>
          <p:cNvSpPr/>
          <p:nvPr/>
        </p:nvSpPr>
        <p:spPr>
          <a:xfrm>
            <a:off x="4800600" y="1536192"/>
            <a:ext cx="3749040" cy="2423160"/>
          </a:xfrm>
          <a:prstGeom prst="rect">
            <a:avLst/>
          </a:prstGeom>
          <a:noFill/>
          <a:ln/>
        </p:spPr>
        <p:txBody>
          <a:bodyPr wrap="square" rtlCol="0" anchor="t"/>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Lower Jitter(%) — stable pitch</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Lower Shimmer — consistent amplitude</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Lower NHR — cleaner signal</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Lower RPDE &amp; PPE — simpler pattern</a:t>
            </a:r>
            <a:endParaRPr lang="en-US" sz="1150" dirty="0"/>
          </a:p>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Higher HNR — better clarity</a:t>
            </a:r>
            <a:endParaRPr lang="en-US" sz="1150" dirty="0"/>
          </a:p>
        </p:txBody>
      </p:sp>
      <p:sp>
        <p:nvSpPr>
          <p:cNvPr id="14" name="Text 12"/>
          <p:cNvSpPr/>
          <p:nvPr/>
        </p:nvSpPr>
        <p:spPr>
          <a:xfrm>
            <a:off x="4800600" y="4041648"/>
            <a:ext cx="3749040" cy="502920"/>
          </a:xfrm>
          <a:prstGeom prst="rect">
            <a:avLst/>
          </a:prstGeom>
          <a:noFill/>
          <a:ln/>
        </p:spPr>
        <p:txBody>
          <a:bodyPr wrap="square" rtlCol="0" anchor="ctr"/>
          <a:lstStyle/>
          <a:p>
            <a:pPr marL="0" indent="0">
              <a:buNone/>
            </a:pPr>
            <a:r>
              <a:rPr lang="en-US" sz="1100" i="1" dirty="0">
                <a:solidFill>
                  <a:srgbClr val="0A7E8C"/>
                </a:solidFill>
                <a:latin typeface="Calibri" pitchFamily="34" charset="0"/>
                <a:ea typeface="Calibri" pitchFamily="34" charset="-122"/>
                <a:cs typeface="Calibri" pitchFamily="34" charset="-120"/>
              </a:rPr>
              <a:t>Stable voice · low noise · high clarity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ill"/>
          <p:cNvSpPr>
            <a:spLocks noGrp="1"/>
          </p:cNvSpPr>
          <p:nvPr/>
        </p:nvSpPr>
        <p:spPr>
          <a:xfrm>
            <a:off x="457200" y="201168"/>
            <a:ext cx="2560320" cy="274320"/>
          </a:xfrm>
          <a:prstGeom prst="roundRect">
            <a:avLst>
              <a:gd name="adj" fmla="val 16667"/>
            </a:avLst>
          </a:prstGeom>
          <a:solidFill>
            <a:srgbClr val="D4F1F4"/>
          </a:solidFill>
          <a:ln>
            <a:noFill/>
          </a:ln>
        </p:spPr>
        <p:txBody>
          <a:bodyPr anchor="ctr"/>
          <a:lstStyle/>
          <a:p>
            <a:pPr algn="ctr"/>
            <a:r>
              <a:rPr lang="en-US" sz="900" b="1" dirty="0">
                <a:solidFill>
                  <a:srgbClr val="0A7E8C"/>
                </a:solidFill>
                <a:latin typeface="Calibri"/>
              </a:rPr>
              <a:t>K-MEANS BOX PLOTS</a:t>
            </a:r>
          </a:p>
        </p:txBody>
      </p:sp>
      <p:sp>
        <p:nvSpPr>
          <p:cNvPr id="3" name="title"/>
          <p:cNvSpPr>
            <a:spLocks noGrp="1"/>
          </p:cNvSpPr>
          <p:nvPr/>
        </p:nvSpPr>
        <p:spPr>
          <a:xfrm>
            <a:off x="457200" y="566928"/>
            <a:ext cx="8229600" cy="475488"/>
          </a:xfrm>
          <a:prstGeom prst="rect">
            <a:avLst/>
          </a:prstGeom>
          <a:noFill/>
        </p:spPr>
        <p:txBody>
          <a:bodyPr anchor="ctr"/>
          <a:lstStyle/>
          <a:p>
            <a:r>
              <a:rPr lang="en-US" sz="2200" b="1" dirty="0">
                <a:solidFill>
                  <a:srgbClr val="0D1F3C"/>
                </a:solidFill>
                <a:latin typeface="Cambria"/>
              </a:rPr>
              <a:t>Voice Feature Box Plots by Cluster</a:t>
            </a:r>
          </a:p>
        </p:txBody>
      </p:sp>
      <p:sp>
        <p:nvSpPr>
          <p:cNvPr id="10" name="lbl_10"/>
          <p:cNvSpPr>
            <a:spLocks noGrp="1"/>
          </p:cNvSpPr>
          <p:nvPr/>
        </p:nvSpPr>
        <p:spPr>
          <a:xfrm>
            <a:off x="365760" y="1072896"/>
            <a:ext cx="2651760" cy="256032"/>
          </a:xfrm>
          <a:prstGeom prst="rect">
            <a:avLst/>
          </a:prstGeom>
          <a:solidFill>
            <a:srgbClr val="0A7E8C"/>
          </a:solidFill>
          <a:ln>
            <a:noFill/>
          </a:ln>
        </p:spPr>
        <p:txBody>
          <a:bodyPr anchor="ctr"/>
          <a:lstStyle/>
          <a:p>
            <a:pPr algn="ctr"/>
            <a:r>
              <a:rPr lang="en-US" sz="1000" b="1" dirty="0">
                <a:solidFill>
                  <a:srgbClr val="FFFFFF"/>
                </a:solidFill>
                <a:latin typeface="Calibri"/>
              </a:rPr>
              <a:t>Shimmer</a:t>
            </a:r>
          </a:p>
        </p:txBody>
      </p:sp>
      <p:sp>
        <p:nvSpPr>
          <p:cNvPr id="12" name="lbl_12"/>
          <p:cNvSpPr>
            <a:spLocks noGrp="1"/>
          </p:cNvSpPr>
          <p:nvPr/>
        </p:nvSpPr>
        <p:spPr>
          <a:xfrm>
            <a:off x="3154680" y="1068832"/>
            <a:ext cx="2651760" cy="256032"/>
          </a:xfrm>
          <a:prstGeom prst="rect">
            <a:avLst/>
          </a:prstGeom>
          <a:solidFill>
            <a:srgbClr val="0A7E8C"/>
          </a:solidFill>
          <a:ln>
            <a:noFill/>
          </a:ln>
        </p:spPr>
        <p:txBody>
          <a:bodyPr anchor="ctr"/>
          <a:lstStyle/>
          <a:p>
            <a:pPr algn="ctr"/>
            <a:r>
              <a:rPr lang="en-US" sz="1000" b="1" dirty="0">
                <a:solidFill>
                  <a:srgbClr val="FFFFFF"/>
                </a:solidFill>
                <a:latin typeface="Calibri"/>
              </a:rPr>
              <a:t>Jitter(%)</a:t>
            </a:r>
          </a:p>
        </p:txBody>
      </p:sp>
      <p:sp>
        <p:nvSpPr>
          <p:cNvPr id="14" name="lbl_14"/>
          <p:cNvSpPr>
            <a:spLocks noGrp="1"/>
          </p:cNvSpPr>
          <p:nvPr/>
        </p:nvSpPr>
        <p:spPr>
          <a:xfrm>
            <a:off x="5943600" y="1042416"/>
            <a:ext cx="2651760" cy="256032"/>
          </a:xfrm>
          <a:prstGeom prst="rect">
            <a:avLst/>
          </a:prstGeom>
          <a:solidFill>
            <a:srgbClr val="0A7E8C"/>
          </a:solidFill>
          <a:ln>
            <a:noFill/>
          </a:ln>
        </p:spPr>
        <p:txBody>
          <a:bodyPr anchor="ctr"/>
          <a:lstStyle/>
          <a:p>
            <a:pPr algn="ctr"/>
            <a:r>
              <a:rPr lang="en-US" sz="1000" b="1" dirty="0">
                <a:solidFill>
                  <a:srgbClr val="FFFFFF"/>
                </a:solidFill>
                <a:latin typeface="Calibri"/>
              </a:rPr>
              <a:t>NHR</a:t>
            </a:r>
          </a:p>
        </p:txBody>
      </p:sp>
      <p:sp>
        <p:nvSpPr>
          <p:cNvPr id="16" name="lbl_16"/>
          <p:cNvSpPr>
            <a:spLocks noGrp="1"/>
          </p:cNvSpPr>
          <p:nvPr/>
        </p:nvSpPr>
        <p:spPr>
          <a:xfrm>
            <a:off x="365760" y="3000248"/>
            <a:ext cx="2651760" cy="256032"/>
          </a:xfrm>
          <a:prstGeom prst="rect">
            <a:avLst/>
          </a:prstGeom>
          <a:solidFill>
            <a:srgbClr val="0A7E8C"/>
          </a:solidFill>
          <a:ln>
            <a:noFill/>
          </a:ln>
        </p:spPr>
        <p:txBody>
          <a:bodyPr anchor="ctr"/>
          <a:lstStyle/>
          <a:p>
            <a:pPr algn="ctr"/>
            <a:r>
              <a:rPr lang="en-US" sz="1000" b="1" dirty="0">
                <a:solidFill>
                  <a:srgbClr val="FFFFFF"/>
                </a:solidFill>
                <a:latin typeface="Calibri"/>
              </a:rPr>
              <a:t>HNR</a:t>
            </a:r>
          </a:p>
        </p:txBody>
      </p:sp>
      <p:sp>
        <p:nvSpPr>
          <p:cNvPr id="18" name="lbl_18"/>
          <p:cNvSpPr>
            <a:spLocks noGrp="1"/>
          </p:cNvSpPr>
          <p:nvPr/>
        </p:nvSpPr>
        <p:spPr>
          <a:xfrm>
            <a:off x="3154680" y="3000248"/>
            <a:ext cx="2651760" cy="256032"/>
          </a:xfrm>
          <a:prstGeom prst="rect">
            <a:avLst/>
          </a:prstGeom>
          <a:solidFill>
            <a:srgbClr val="0A7E8C"/>
          </a:solidFill>
          <a:ln>
            <a:noFill/>
          </a:ln>
        </p:spPr>
        <p:txBody>
          <a:bodyPr anchor="ctr"/>
          <a:lstStyle/>
          <a:p>
            <a:pPr algn="ctr"/>
            <a:r>
              <a:rPr lang="en-US" sz="1000" b="1" dirty="0">
                <a:solidFill>
                  <a:srgbClr val="FFFFFF"/>
                </a:solidFill>
                <a:latin typeface="Calibri"/>
              </a:rPr>
              <a:t>RPDE</a:t>
            </a:r>
          </a:p>
        </p:txBody>
      </p:sp>
      <p:sp>
        <p:nvSpPr>
          <p:cNvPr id="20" name="lbl_20"/>
          <p:cNvSpPr>
            <a:spLocks noGrp="1"/>
          </p:cNvSpPr>
          <p:nvPr/>
        </p:nvSpPr>
        <p:spPr>
          <a:xfrm>
            <a:off x="5943600" y="2989072"/>
            <a:ext cx="2651760" cy="256032"/>
          </a:xfrm>
          <a:prstGeom prst="rect">
            <a:avLst/>
          </a:prstGeom>
          <a:solidFill>
            <a:srgbClr val="0A7E8C"/>
          </a:solidFill>
          <a:ln>
            <a:noFill/>
          </a:ln>
        </p:spPr>
        <p:txBody>
          <a:bodyPr anchor="ctr"/>
          <a:lstStyle/>
          <a:p>
            <a:pPr algn="ctr"/>
            <a:r>
              <a:rPr lang="en-US" sz="1000" b="1" dirty="0">
                <a:solidFill>
                  <a:srgbClr val="FFFFFF"/>
                </a:solidFill>
                <a:latin typeface="Calibri"/>
              </a:rPr>
              <a:t>PPE</a:t>
            </a:r>
          </a:p>
        </p:txBody>
      </p:sp>
      <p:pic>
        <p:nvPicPr>
          <p:cNvPr id="11" name="bp_11"/>
          <p:cNvPicPr>
            <a:picLocks noChangeAspect="1"/>
          </p:cNvPicPr>
          <p:nvPr/>
        </p:nvPicPr>
        <p:blipFill>
          <a:blip r:embed="rId2"/>
          <a:srcRect l="36494" t="14670" b="20798"/>
          <a:stretch>
            <a:fillRect/>
          </a:stretch>
        </p:blipFill>
        <p:spPr>
          <a:xfrm>
            <a:off x="895348" y="1345946"/>
            <a:ext cx="1684020" cy="1427988"/>
          </a:xfrm>
          <a:prstGeom prst="rect">
            <a:avLst/>
          </a:prstGeom>
          <a:ln w="9525">
            <a:solidFill>
              <a:srgbClr val="CBD5E1"/>
            </a:solidFill>
          </a:ln>
          <a:effectLst>
            <a:outerShdw blurRad="38100" dist="18288" dir="5400000" rotWithShape="0">
              <a:srgbClr val="000000">
                <a:alpha val="10000"/>
              </a:srgbClr>
            </a:outerShdw>
          </a:effectLst>
        </p:spPr>
      </p:pic>
      <p:pic>
        <p:nvPicPr>
          <p:cNvPr id="13" name="bp_13"/>
          <p:cNvPicPr>
            <a:picLocks noChangeAspect="1"/>
          </p:cNvPicPr>
          <p:nvPr/>
        </p:nvPicPr>
        <p:blipFill>
          <a:blip r:embed="rId3"/>
          <a:srcRect l="36494" t="11571" b="23898"/>
          <a:stretch>
            <a:fillRect/>
          </a:stretch>
        </p:blipFill>
        <p:spPr>
          <a:xfrm>
            <a:off x="3817620" y="1345946"/>
            <a:ext cx="1684020" cy="1427988"/>
          </a:xfrm>
          <a:prstGeom prst="rect">
            <a:avLst/>
          </a:prstGeom>
          <a:ln w="9525">
            <a:solidFill>
              <a:srgbClr val="CBD5E1"/>
            </a:solidFill>
          </a:ln>
          <a:effectLst>
            <a:outerShdw blurRad="38100" dist="18288" dir="5400000" rotWithShape="0">
              <a:srgbClr val="000000">
                <a:alpha val="10000"/>
              </a:srgbClr>
            </a:outerShdw>
          </a:effectLst>
        </p:spPr>
      </p:pic>
      <p:pic>
        <p:nvPicPr>
          <p:cNvPr id="15" name="bp_15"/>
          <p:cNvPicPr>
            <a:picLocks noChangeAspect="1"/>
          </p:cNvPicPr>
          <p:nvPr/>
        </p:nvPicPr>
        <p:blipFill>
          <a:blip r:embed="rId4"/>
          <a:srcRect l="36494" t="19283" b="16185"/>
          <a:stretch>
            <a:fillRect/>
          </a:stretch>
        </p:blipFill>
        <p:spPr>
          <a:xfrm>
            <a:off x="6564632" y="1298448"/>
            <a:ext cx="1684020" cy="1427988"/>
          </a:xfrm>
          <a:prstGeom prst="rect">
            <a:avLst/>
          </a:prstGeom>
          <a:ln w="9525">
            <a:solidFill>
              <a:srgbClr val="CBD5E1"/>
            </a:solidFill>
          </a:ln>
          <a:effectLst>
            <a:outerShdw blurRad="38100" dist="18288" dir="5400000" rotWithShape="0">
              <a:srgbClr val="000000">
                <a:alpha val="10000"/>
              </a:srgbClr>
            </a:outerShdw>
          </a:effectLst>
        </p:spPr>
      </p:pic>
      <p:pic>
        <p:nvPicPr>
          <p:cNvPr id="17" name="bp_17"/>
          <p:cNvPicPr>
            <a:picLocks noChangeAspect="1"/>
          </p:cNvPicPr>
          <p:nvPr/>
        </p:nvPicPr>
        <p:blipFill>
          <a:blip r:embed="rId5"/>
          <a:srcRect l="36494" t="14922" r="2682" b="22635"/>
          <a:stretch>
            <a:fillRect/>
          </a:stretch>
        </p:blipFill>
        <p:spPr>
          <a:xfrm>
            <a:off x="885190" y="3379724"/>
            <a:ext cx="1612900" cy="1381760"/>
          </a:xfrm>
          <a:prstGeom prst="rect">
            <a:avLst/>
          </a:prstGeom>
          <a:ln w="9525">
            <a:solidFill>
              <a:srgbClr val="CBD5E1"/>
            </a:solidFill>
          </a:ln>
          <a:effectLst>
            <a:outerShdw blurRad="38100" dist="18288" dir="5400000" rotWithShape="0">
              <a:srgbClr val="000000">
                <a:alpha val="10000"/>
              </a:srgbClr>
            </a:outerShdw>
          </a:effectLst>
        </p:spPr>
      </p:pic>
      <p:pic>
        <p:nvPicPr>
          <p:cNvPr id="19" name="bp_19"/>
          <p:cNvPicPr>
            <a:picLocks noChangeAspect="1"/>
          </p:cNvPicPr>
          <p:nvPr/>
        </p:nvPicPr>
        <p:blipFill>
          <a:blip r:embed="rId6"/>
          <a:srcRect l="36303" t="19972" r="2873" b="22636"/>
          <a:stretch>
            <a:fillRect/>
          </a:stretch>
        </p:blipFill>
        <p:spPr>
          <a:xfrm>
            <a:off x="3853180" y="3447034"/>
            <a:ext cx="1612900" cy="1270000"/>
          </a:xfrm>
          <a:prstGeom prst="rect">
            <a:avLst/>
          </a:prstGeom>
          <a:ln w="9525">
            <a:solidFill>
              <a:srgbClr val="CBD5E1"/>
            </a:solidFill>
          </a:ln>
          <a:effectLst>
            <a:outerShdw blurRad="38100" dist="18288" dir="5400000" rotWithShape="0">
              <a:srgbClr val="000000">
                <a:alpha val="10000"/>
              </a:srgbClr>
            </a:outerShdw>
          </a:effectLst>
        </p:spPr>
      </p:pic>
      <p:pic>
        <p:nvPicPr>
          <p:cNvPr id="21" name="bp_21"/>
          <p:cNvPicPr>
            <a:picLocks noChangeAspect="1"/>
          </p:cNvPicPr>
          <p:nvPr/>
        </p:nvPicPr>
        <p:blipFill>
          <a:blip r:embed="rId7"/>
          <a:srcRect l="36111" t="19973" r="3065" b="27754"/>
          <a:stretch>
            <a:fillRect/>
          </a:stretch>
        </p:blipFill>
        <p:spPr>
          <a:xfrm>
            <a:off x="6635752" y="3422904"/>
            <a:ext cx="1612900" cy="1156716"/>
          </a:xfrm>
          <a:prstGeom prst="rect">
            <a:avLst/>
          </a:prstGeom>
          <a:ln w="9525">
            <a:solidFill>
              <a:srgbClr val="CBD5E1"/>
            </a:solidFill>
          </a:ln>
          <a:effectLst>
            <a:outerShdw blurRad="38100" dist="18288" dir="5400000" rotWithShape="0">
              <a:srgbClr val="000000">
                <a:alpha val="1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ill"/>
          <p:cNvSpPr>
            <a:spLocks noGrp="1"/>
          </p:cNvSpPr>
          <p:nvPr/>
        </p:nvSpPr>
        <p:spPr>
          <a:xfrm>
            <a:off x="457200" y="201168"/>
            <a:ext cx="1828800" cy="274320"/>
          </a:xfrm>
          <a:prstGeom prst="roundRect">
            <a:avLst>
              <a:gd name="adj" fmla="val 16667"/>
            </a:avLst>
          </a:prstGeom>
          <a:solidFill>
            <a:srgbClr val="D4F1F4"/>
          </a:solidFill>
          <a:ln>
            <a:noFill/>
          </a:ln>
        </p:spPr>
        <p:txBody>
          <a:bodyPr anchor="ctr"/>
          <a:lstStyle/>
          <a:p>
            <a:pPr algn="ctr"/>
            <a:r>
              <a:rPr lang="en-US" sz="900" b="1" dirty="0">
                <a:solidFill>
                  <a:srgbClr val="0A7E8C"/>
                </a:solidFill>
                <a:latin typeface="Calibri"/>
              </a:rPr>
              <a:t>VALIDATION</a:t>
            </a:r>
          </a:p>
        </p:txBody>
      </p:sp>
      <p:sp>
        <p:nvSpPr>
          <p:cNvPr id="3" name="title"/>
          <p:cNvSpPr>
            <a:spLocks noGrp="1"/>
          </p:cNvSpPr>
          <p:nvPr/>
        </p:nvSpPr>
        <p:spPr>
          <a:xfrm>
            <a:off x="457200" y="566928"/>
            <a:ext cx="8229600" cy="475488"/>
          </a:xfrm>
          <a:prstGeom prst="rect">
            <a:avLst/>
          </a:prstGeom>
          <a:noFill/>
        </p:spPr>
        <p:txBody>
          <a:bodyPr anchor="ctr"/>
          <a:lstStyle/>
          <a:p>
            <a:r>
              <a:rPr lang="en-US" sz="2200" b="1" dirty="0">
                <a:solidFill>
                  <a:srgbClr val="0D1F3C"/>
                </a:solidFill>
                <a:latin typeface="Cambria"/>
              </a:rPr>
              <a:t>UPDRS Box Plots by Cluster</a:t>
            </a:r>
          </a:p>
        </p:txBody>
      </p:sp>
      <p:sp>
        <p:nvSpPr>
          <p:cNvPr id="4" name="lbl1"/>
          <p:cNvSpPr>
            <a:spLocks noGrp="1"/>
          </p:cNvSpPr>
          <p:nvPr/>
        </p:nvSpPr>
        <p:spPr>
          <a:xfrm>
            <a:off x="457200" y="1170432"/>
            <a:ext cx="3840480" cy="292608"/>
          </a:xfrm>
          <a:prstGeom prst="roundRect">
            <a:avLst>
              <a:gd name="adj" fmla="val 8333"/>
            </a:avLst>
          </a:prstGeom>
          <a:solidFill>
            <a:srgbClr val="E05C5C"/>
          </a:solidFill>
          <a:ln>
            <a:noFill/>
          </a:ln>
        </p:spPr>
        <p:txBody>
          <a:bodyPr anchor="ctr"/>
          <a:lstStyle/>
          <a:p>
            <a:pPr algn="ctr"/>
            <a:r>
              <a:rPr lang="en-US" sz="1100" b="1" dirty="0">
                <a:solidFill>
                  <a:srgbClr val="FFFFFF"/>
                </a:solidFill>
                <a:latin typeface="Calibri"/>
              </a:rPr>
              <a:t>motor_UPDRS by Cluster</a:t>
            </a:r>
          </a:p>
        </p:txBody>
      </p:sp>
      <p:pic>
        <p:nvPicPr>
          <p:cNvPr id="5" name="motor_plot"/>
          <p:cNvPicPr>
            <a:picLocks noChangeAspect="1"/>
          </p:cNvPicPr>
          <p:nvPr/>
        </p:nvPicPr>
        <p:blipFill>
          <a:blip r:embed="rId2"/>
          <a:stretch>
            <a:fillRect/>
          </a:stretch>
        </p:blipFill>
        <p:spPr>
          <a:xfrm>
            <a:off x="457200" y="1508760"/>
            <a:ext cx="3840480" cy="3200400"/>
          </a:xfrm>
          <a:prstGeom prst="rect">
            <a:avLst/>
          </a:prstGeom>
          <a:ln w="9525">
            <a:solidFill>
              <a:srgbClr val="CBD5E1"/>
            </a:solidFill>
          </a:ln>
          <a:effectLst>
            <a:outerShdw blurRad="60960" dist="27432" dir="5400000" rotWithShape="0">
              <a:srgbClr val="000000">
                <a:alpha val="10000"/>
              </a:srgbClr>
            </a:outerShdw>
          </a:effectLst>
        </p:spPr>
      </p:pic>
      <p:sp>
        <p:nvSpPr>
          <p:cNvPr id="6" name="lbl2"/>
          <p:cNvSpPr>
            <a:spLocks noGrp="1"/>
          </p:cNvSpPr>
          <p:nvPr/>
        </p:nvSpPr>
        <p:spPr>
          <a:xfrm>
            <a:off x="4846320" y="1170432"/>
            <a:ext cx="3840480" cy="292608"/>
          </a:xfrm>
          <a:prstGeom prst="roundRect">
            <a:avLst>
              <a:gd name="adj" fmla="val 8333"/>
            </a:avLst>
          </a:prstGeom>
          <a:solidFill>
            <a:srgbClr val="0A7E8C"/>
          </a:solidFill>
          <a:ln>
            <a:noFill/>
          </a:ln>
        </p:spPr>
        <p:txBody>
          <a:bodyPr anchor="ctr"/>
          <a:lstStyle/>
          <a:p>
            <a:pPr algn="ctr"/>
            <a:r>
              <a:rPr lang="en-US" sz="1100" b="1" dirty="0">
                <a:solidFill>
                  <a:srgbClr val="FFFFFF"/>
                </a:solidFill>
                <a:latin typeface="Calibri"/>
              </a:rPr>
              <a:t>total_UPDRS by Cluster</a:t>
            </a:r>
          </a:p>
        </p:txBody>
      </p:sp>
      <p:pic>
        <p:nvPicPr>
          <p:cNvPr id="7" name="total_plot"/>
          <p:cNvPicPr>
            <a:picLocks noChangeAspect="1"/>
          </p:cNvPicPr>
          <p:nvPr/>
        </p:nvPicPr>
        <p:blipFill>
          <a:blip r:embed="rId3"/>
          <a:stretch>
            <a:fillRect/>
          </a:stretch>
        </p:blipFill>
        <p:spPr>
          <a:xfrm>
            <a:off x="4846320" y="1508760"/>
            <a:ext cx="3840480" cy="3200400"/>
          </a:xfrm>
          <a:prstGeom prst="rect">
            <a:avLst/>
          </a:prstGeom>
          <a:ln w="9525">
            <a:solidFill>
              <a:srgbClr val="CBD5E1"/>
            </a:solidFill>
          </a:ln>
          <a:effectLst>
            <a:outerShdw blurRad="60960" dist="27432" dir="5400000" rotWithShape="0">
              <a:srgbClr val="000000">
                <a:alpha val="10000"/>
              </a:srgbClr>
            </a:outerShdw>
          </a:effectLst>
        </p:spPr>
      </p:pic>
      <p:sp>
        <p:nvSpPr>
          <p:cNvPr id="8" name="finding"/>
          <p:cNvSpPr>
            <a:spLocks noGrp="1"/>
          </p:cNvSpPr>
          <p:nvPr/>
        </p:nvSpPr>
        <p:spPr>
          <a:xfrm>
            <a:off x="0" y="4750308"/>
            <a:ext cx="9144000" cy="292608"/>
          </a:xfrm>
          <a:prstGeom prst="roundRect">
            <a:avLst>
              <a:gd name="adj" fmla="val 8333"/>
            </a:avLst>
          </a:prstGeom>
          <a:solidFill>
            <a:srgbClr val="0D1F3C"/>
          </a:solidFill>
          <a:ln>
            <a:noFill/>
          </a:ln>
        </p:spPr>
        <p:txBody>
          <a:bodyPr wrap="square" lIns="182880" tIns="91440" rIns="182880" bIns="91440" anchor="ctr"/>
          <a:lstStyle/>
          <a:p>
            <a:pPr algn="ctr"/>
            <a:r>
              <a:rPr lang="en-US" sz="1200" dirty="0">
                <a:solidFill>
                  <a:srgbClr val="FFFFFF"/>
                </a:solidFill>
                <a:latin typeface="Calibri"/>
              </a:rPr>
              <a:t>C1 (Higher Impairment): motor_UPDRS 23.55 · total_UPDRS 31.08  C2 (Lower Impairment): motor_UPDRS 21.20 ·</a:t>
            </a:r>
            <a:r>
              <a:rPr lang="en-US" sz="1200" dirty="0">
                <a:solidFill>
                  <a:srgbClr val="FFFFFF"/>
                </a:solidFill>
              </a:rPr>
              <a:t> </a:t>
            </a:r>
            <a:r>
              <a:rPr lang="en-US" sz="1200" dirty="0" err="1">
                <a:solidFill>
                  <a:srgbClr val="FFFFFF"/>
                </a:solidFill>
              </a:rPr>
              <a:t>total_UPDRS</a:t>
            </a:r>
            <a:r>
              <a:rPr lang="en-US" sz="1200" dirty="0">
                <a:solidFill>
                  <a:srgbClr val="FFFFFF"/>
                </a:solidFill>
              </a:rPr>
              <a:t> 28.89 </a:t>
            </a:r>
            <a:endParaRPr lang="en-US" sz="1200" dirty="0">
              <a:solidFill>
                <a:srgbClr val="FFFFFF"/>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164592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1645920" cy="274320"/>
          </a:xfrm>
          <a:prstGeom prst="rect">
            <a:avLst/>
          </a:prstGeom>
          <a:noFill/>
          <a:ln/>
        </p:spPr>
        <p:txBody>
          <a:bodyPr wrap="square" lIns="0" tIns="0" rIns="0" bIns="0" rtlCol="0" anchor="ctr"/>
          <a:lstStyle/>
          <a:p>
            <a:pPr marL="0" indent="0" algn="ctr">
              <a:buNone/>
            </a:pPr>
            <a:r>
              <a:rPr lang="en-US" sz="900" b="1" dirty="0">
                <a:solidFill>
                  <a:srgbClr val="0A7E8C"/>
                </a:solidFill>
              </a:rPr>
              <a:t>PCA</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PCA: Visualizing Acoustic Structure</a:t>
            </a:r>
            <a:endParaRPr lang="en-US" sz="2200" dirty="0"/>
          </a:p>
        </p:txBody>
      </p:sp>
      <p:sp>
        <p:nvSpPr>
          <p:cNvPr id="5" name="Shape 3"/>
          <p:cNvSpPr/>
          <p:nvPr/>
        </p:nvSpPr>
        <p:spPr>
          <a:xfrm>
            <a:off x="457200" y="1024128"/>
            <a:ext cx="8229600" cy="804672"/>
          </a:xfrm>
          <a:prstGeom prst="roundRect">
            <a:avLst>
              <a:gd name="adj" fmla="val 11364"/>
            </a:avLst>
          </a:prstGeom>
          <a:solidFill>
            <a:srgbClr val="0D1F3C"/>
          </a:solidFill>
          <a:ln/>
          <a:effectLst>
            <a:outerShdw blurRad="76200" dist="25400" dir="2700000" algn="bl" rotWithShape="0">
              <a:srgbClr val="000000">
                <a:alpha val="12000"/>
              </a:srgbClr>
            </a:outerShdw>
          </a:effectLst>
        </p:spPr>
        <p:txBody>
          <a:bodyPr/>
          <a:lstStyle/>
          <a:p>
            <a:endParaRPr lang="en-US"/>
          </a:p>
        </p:txBody>
      </p:sp>
      <p:sp>
        <p:nvSpPr>
          <p:cNvPr id="6" name="Text 4"/>
          <p:cNvSpPr/>
          <p:nvPr/>
        </p:nvSpPr>
        <p:spPr>
          <a:xfrm>
            <a:off x="685800" y="1078992"/>
            <a:ext cx="2286000" cy="274320"/>
          </a:xfrm>
          <a:prstGeom prst="rect">
            <a:avLst/>
          </a:prstGeom>
          <a:noFill/>
          <a:ln/>
        </p:spPr>
        <p:txBody>
          <a:bodyPr wrap="square" rtlCol="0" anchor="ctr"/>
          <a:lstStyle/>
          <a:p>
            <a:pPr marL="0" indent="0">
              <a:buNone/>
            </a:pPr>
            <a:r>
              <a:rPr lang="en-US" sz="1200" b="1" dirty="0">
                <a:solidFill>
                  <a:srgbClr val="D4F1F4"/>
                </a:solidFill>
                <a:latin typeface="Calibri" pitchFamily="34" charset="0"/>
                <a:ea typeface="Calibri" pitchFamily="34" charset="-122"/>
                <a:cs typeface="Calibri" pitchFamily="34" charset="-120"/>
              </a:rPr>
              <a:t>Why PCA?</a:t>
            </a:r>
            <a:endParaRPr lang="en-US" sz="1200" dirty="0"/>
          </a:p>
        </p:txBody>
      </p:sp>
      <p:sp>
        <p:nvSpPr>
          <p:cNvPr id="7" name="Text 5"/>
          <p:cNvSpPr/>
          <p:nvPr/>
        </p:nvSpPr>
        <p:spPr>
          <a:xfrm>
            <a:off x="685800" y="1371600"/>
            <a:ext cx="7680960" cy="384048"/>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PCA reduces 16 voice features to 2 principal components for visualization. It lets us see whether the K-Means clusters have clear visual separation in the data — without assuming any groupings.</a:t>
            </a:r>
            <a:endParaRPr lang="en-US" sz="1150" dirty="0"/>
          </a:p>
        </p:txBody>
      </p:sp>
      <p:sp>
        <p:nvSpPr>
          <p:cNvPr id="8" name="Shape 6"/>
          <p:cNvSpPr/>
          <p:nvPr/>
        </p:nvSpPr>
        <p:spPr>
          <a:xfrm>
            <a:off x="457200" y="1965960"/>
            <a:ext cx="3931920" cy="1371600"/>
          </a:xfrm>
          <a:prstGeom prst="roundRect">
            <a:avLst>
              <a:gd name="adj" fmla="val 6667"/>
            </a:avLst>
          </a:prstGeom>
          <a:solidFill>
            <a:srgbClr val="D4F1F4"/>
          </a:solidFill>
          <a:ln/>
          <a:effectLst>
            <a:outerShdw blurRad="50800" dist="25400" dir="2700000" algn="bl" rotWithShape="0">
              <a:srgbClr val="000000">
                <a:alpha val="8000"/>
              </a:srgbClr>
            </a:outerShdw>
          </a:effectLst>
        </p:spPr>
        <p:txBody>
          <a:bodyPr/>
          <a:lstStyle/>
          <a:p>
            <a:endParaRPr lang="en-US"/>
          </a:p>
        </p:txBody>
      </p:sp>
      <p:sp>
        <p:nvSpPr>
          <p:cNvPr id="9" name="Text 7"/>
          <p:cNvSpPr/>
          <p:nvPr/>
        </p:nvSpPr>
        <p:spPr>
          <a:xfrm>
            <a:off x="640080" y="2057400"/>
            <a:ext cx="3566160" cy="274320"/>
          </a:xfrm>
          <a:prstGeom prst="rect">
            <a:avLst/>
          </a:prstGeom>
          <a:noFill/>
          <a:ln/>
        </p:spPr>
        <p:txBody>
          <a:bodyPr wrap="square"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Key Result</a:t>
            </a:r>
            <a:endParaRPr lang="en-US" sz="1200" dirty="0"/>
          </a:p>
        </p:txBody>
      </p:sp>
      <p:sp>
        <p:nvSpPr>
          <p:cNvPr id="10" name="Shape 8"/>
          <p:cNvSpPr/>
          <p:nvPr/>
        </p:nvSpPr>
        <p:spPr>
          <a:xfrm>
            <a:off x="640080" y="2377440"/>
            <a:ext cx="3566160" cy="822960"/>
          </a:xfrm>
          <a:prstGeom prst="roundRect">
            <a:avLst>
              <a:gd name="adj" fmla="val 8889"/>
            </a:avLst>
          </a:prstGeom>
          <a:solidFill>
            <a:srgbClr val="0A7E8C"/>
          </a:solidFill>
          <a:ln/>
        </p:spPr>
        <p:txBody>
          <a:bodyPr/>
          <a:lstStyle/>
          <a:p>
            <a:endParaRPr lang="en-US"/>
          </a:p>
        </p:txBody>
      </p:sp>
      <p:sp>
        <p:nvSpPr>
          <p:cNvPr id="11" name="Text 9"/>
          <p:cNvSpPr/>
          <p:nvPr/>
        </p:nvSpPr>
        <p:spPr>
          <a:xfrm>
            <a:off x="640080" y="2377440"/>
            <a:ext cx="3566160" cy="8229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PC1 + PC2 explain ~80.8% of variance</a:t>
            </a:r>
            <a:endParaRPr lang="en-US" sz="1500" dirty="0"/>
          </a:p>
        </p:txBody>
      </p:sp>
      <p:sp>
        <p:nvSpPr>
          <p:cNvPr id="12" name="Shape 10"/>
          <p:cNvSpPr/>
          <p:nvPr/>
        </p:nvSpPr>
        <p:spPr>
          <a:xfrm>
            <a:off x="4526280" y="1965960"/>
            <a:ext cx="4160520" cy="1371600"/>
          </a:xfrm>
          <a:prstGeom prst="roundRect">
            <a:avLst>
              <a:gd name="adj" fmla="val 6667"/>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13" name="Text 11"/>
          <p:cNvSpPr/>
          <p:nvPr/>
        </p:nvSpPr>
        <p:spPr>
          <a:xfrm>
            <a:off x="4690872" y="2075688"/>
            <a:ext cx="3831336" cy="274320"/>
          </a:xfrm>
          <a:prstGeom prst="rect">
            <a:avLst/>
          </a:prstGeom>
          <a:noFill/>
          <a:ln/>
        </p:spPr>
        <p:txBody>
          <a:bodyPr wrap="square" rtlCol="0" anchor="ctr"/>
          <a:lstStyle/>
          <a:p>
            <a:pPr marL="0" indent="0">
              <a:buNone/>
            </a:pPr>
            <a:r>
              <a:rPr lang="en-US" sz="1200" b="1" dirty="0">
                <a:solidFill>
                  <a:srgbClr val="0A7E8C"/>
                </a:solidFill>
                <a:latin typeface="Calibri" pitchFamily="34" charset="0"/>
                <a:ea typeface="Calibri" pitchFamily="34" charset="-122"/>
                <a:cs typeface="Calibri" pitchFamily="34" charset="-120"/>
              </a:rPr>
              <a:t>What this means</a:t>
            </a:r>
            <a:endParaRPr lang="en-US" sz="1200" dirty="0"/>
          </a:p>
        </p:txBody>
      </p:sp>
      <p:sp>
        <p:nvSpPr>
          <p:cNvPr id="14" name="Text 12"/>
          <p:cNvSpPr/>
          <p:nvPr/>
        </p:nvSpPr>
        <p:spPr>
          <a:xfrm>
            <a:off x="4690872" y="2386584"/>
            <a:ext cx="3831336" cy="84124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80.8% of the variation in all 16 voice features is captured in just two dimensions. The Scatter Plot in Orange lets us visualize all 4,000 recordings in this 2D space, coloured by K-Means cluster label.</a:t>
            </a:r>
            <a:endParaRPr lang="en-US" sz="1100" dirty="0"/>
          </a:p>
        </p:txBody>
      </p:sp>
      <p:pic>
        <p:nvPicPr>
          <p:cNvPr id="20" name="Picture 19">
            <a:extLst>
              <a:ext uri="{FF2B5EF4-FFF2-40B4-BE49-F238E27FC236}">
                <a16:creationId xmlns:a16="http://schemas.microsoft.com/office/drawing/2014/main" id="{7C323C23-D18A-3889-16CC-A24251F44820}"/>
              </a:ext>
            </a:extLst>
          </p:cNvPr>
          <p:cNvPicPr>
            <a:picLocks noChangeAspect="1"/>
          </p:cNvPicPr>
          <p:nvPr/>
        </p:nvPicPr>
        <p:blipFill>
          <a:blip r:embed="rId3"/>
          <a:stretch>
            <a:fillRect/>
          </a:stretch>
        </p:blipFill>
        <p:spPr>
          <a:xfrm>
            <a:off x="4251960" y="1920240"/>
            <a:ext cx="4389120" cy="2468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pill"/>
          <p:cNvSpPr/>
          <p:nvPr/>
        </p:nvSpPr>
        <p:spPr>
          <a:xfrm>
            <a:off x="457200" y="201168"/>
            <a:ext cx="2743200" cy="274320"/>
          </a:xfrm>
          <a:prstGeom prst="roundRect">
            <a:avLst>
              <a:gd name="adj" fmla="val 26667"/>
            </a:avLst>
          </a:prstGeom>
          <a:solidFill>
            <a:srgbClr val="D4F1F4"/>
          </a:solidFill>
          <a:ln>
            <a:noFill/>
          </a:ln>
        </p:spPr>
        <p:txBody>
          <a:bodyPr anchor="ctr"/>
          <a:lstStyle/>
          <a:p>
            <a:pPr algn="ctr"/>
            <a:r>
              <a:rPr lang="en-US" sz="900" b="1" dirty="0">
                <a:solidFill>
                  <a:srgbClr val="0A7E8C"/>
                </a:solidFill>
                <a:latin typeface="Calibri"/>
              </a:rPr>
              <a:t>HIERARCHICAL CLUSTERING</a:t>
            </a:r>
          </a:p>
        </p:txBody>
      </p:sp>
      <p:sp>
        <p:nvSpPr>
          <p:cNvPr id="3" name="title"/>
          <p:cNvSpPr/>
          <p:nvPr/>
        </p:nvSpPr>
        <p:spPr>
          <a:xfrm>
            <a:off x="457200" y="566928"/>
            <a:ext cx="8229600" cy="475488"/>
          </a:xfrm>
          <a:prstGeom prst="rect">
            <a:avLst/>
          </a:prstGeom>
          <a:noFill/>
        </p:spPr>
        <p:txBody>
          <a:bodyPr anchor="ctr"/>
          <a:lstStyle/>
          <a:p>
            <a:r>
              <a:rPr lang="en-US" sz="2200" b="1" dirty="0">
                <a:solidFill>
                  <a:srgbClr val="0D1F3C"/>
                </a:solidFill>
                <a:latin typeface="Cambria"/>
              </a:rPr>
              <a:t>Hierarchical Clustering: Method &amp; Results</a:t>
            </a:r>
          </a:p>
        </p:txBody>
      </p:sp>
      <p:sp>
        <p:nvSpPr>
          <p:cNvPr id="4" name="method_card"/>
          <p:cNvSpPr/>
          <p:nvPr/>
        </p:nvSpPr>
        <p:spPr>
          <a:xfrm>
            <a:off x="457200" y="1115568"/>
            <a:ext cx="3291840" cy="2990088"/>
          </a:xfrm>
          <a:prstGeom prst="roundRect">
            <a:avLst>
              <a:gd name="adj" fmla="val 4898"/>
            </a:avLst>
          </a:prstGeom>
          <a:solidFill>
            <a:srgbClr val="0D1F3C"/>
          </a:solidFill>
          <a:ln>
            <a:noFill/>
          </a:ln>
          <a:effectLst>
            <a:outerShdw blurRad="60960" dist="27432" dir="5400000" rotWithShape="0">
              <a:srgbClr val="000000">
                <a:alpha val="12000"/>
              </a:srgbClr>
            </a:outerShdw>
          </a:effectLst>
        </p:spPr>
        <p:txBody>
          <a:bodyPr/>
          <a:lstStyle/>
          <a:p>
            <a:endParaRPr lang="en-US"/>
          </a:p>
        </p:txBody>
      </p:sp>
      <p:sp>
        <p:nvSpPr>
          <p:cNvPr id="5" name="method_hdr"/>
          <p:cNvSpPr/>
          <p:nvPr/>
        </p:nvSpPr>
        <p:spPr>
          <a:xfrm>
            <a:off x="621792" y="1878339"/>
            <a:ext cx="2962656" cy="292608"/>
          </a:xfrm>
          <a:prstGeom prst="rect">
            <a:avLst/>
          </a:prstGeom>
          <a:noFill/>
        </p:spPr>
        <p:txBody>
          <a:bodyPr anchor="ctr"/>
          <a:lstStyle/>
          <a:p>
            <a:r>
              <a:rPr lang="en-US" sz="1300" b="1" dirty="0">
                <a:solidFill>
                  <a:srgbClr val="D4F1F4"/>
                </a:solidFill>
                <a:latin typeface="Calibri"/>
              </a:rPr>
              <a:t>Hierarchical Method</a:t>
            </a:r>
          </a:p>
        </p:txBody>
      </p:sp>
      <p:sp>
        <p:nvSpPr>
          <p:cNvPr id="6" name="method_bullets"/>
          <p:cNvSpPr/>
          <p:nvPr/>
        </p:nvSpPr>
        <p:spPr>
          <a:xfrm>
            <a:off x="621792" y="2244099"/>
            <a:ext cx="2962656" cy="1540823"/>
          </a:xfrm>
          <a:prstGeom prst="rect">
            <a:avLst/>
          </a:prstGeom>
          <a:noFill/>
        </p:spPr>
        <p:txBody>
          <a:bodyPr wrap="square" rtlCol="0" anchor="t"/>
          <a:lstStyle/>
          <a:p>
            <a:pPr marL="228600" indent="-228600">
              <a:buChar char="•"/>
            </a:pPr>
            <a:r>
              <a:rPr lang="en-US" sz="1050" dirty="0">
                <a:solidFill>
                  <a:srgbClr val="FFFFFF"/>
                </a:solidFill>
                <a:latin typeface="Calibri"/>
              </a:rPr>
              <a:t>Builds a tree (dendrogram) of cluster merges</a:t>
            </a:r>
          </a:p>
          <a:p>
            <a:pPr marL="228600" indent="-228600">
              <a:buChar char="•"/>
            </a:pPr>
            <a:r>
              <a:rPr lang="en-US" sz="1050" dirty="0">
                <a:solidFill>
                  <a:srgbClr val="FFFFFF"/>
                </a:solidFill>
                <a:latin typeface="Calibri"/>
              </a:rPr>
              <a:t>Agglomerative: starts with each row as its own cluster, merges upward</a:t>
            </a:r>
          </a:p>
          <a:p>
            <a:pPr marL="228600" indent="-228600">
              <a:buChar char="•"/>
            </a:pPr>
            <a:r>
              <a:rPr lang="en-US" sz="1050" dirty="0">
                <a:solidFill>
                  <a:srgbClr val="FFFFFF"/>
                </a:solidFill>
                <a:latin typeface="Calibri"/>
              </a:rPr>
              <a:t>Uses Distances widget to compute inter-row distances first</a:t>
            </a:r>
          </a:p>
          <a:p>
            <a:pPr marL="228600" indent="-228600">
              <a:buChar char="•"/>
            </a:pPr>
            <a:r>
              <a:rPr lang="en-US" sz="1050" dirty="0">
                <a:solidFill>
                  <a:srgbClr val="FFFFFF"/>
                </a:solidFill>
                <a:latin typeface="Calibri"/>
              </a:rPr>
              <a:t>Does not require k upfront — cut the dendrogram where appropriate</a:t>
            </a:r>
          </a:p>
        </p:txBody>
      </p:sp>
      <p:sp>
        <p:nvSpPr>
          <p:cNvPr id="8" name="dendro_lbl"/>
          <p:cNvSpPr/>
          <p:nvPr/>
        </p:nvSpPr>
        <p:spPr>
          <a:xfrm>
            <a:off x="3931920" y="1115568"/>
            <a:ext cx="4754880" cy="274320"/>
          </a:xfrm>
          <a:prstGeom prst="roundRect">
            <a:avLst>
              <a:gd name="adj" fmla="val 8333"/>
            </a:avLst>
          </a:prstGeom>
          <a:solidFill>
            <a:srgbClr val="0D1F3C"/>
          </a:solidFill>
          <a:ln>
            <a:noFill/>
          </a:ln>
        </p:spPr>
        <p:txBody>
          <a:bodyPr anchor="ctr"/>
          <a:lstStyle/>
          <a:p>
            <a:pPr algn="ctr"/>
            <a:r>
              <a:rPr lang="en-US" sz="1000" b="1" dirty="0">
                <a:solidFill>
                  <a:srgbClr val="FFFFFF"/>
                </a:solidFill>
                <a:latin typeface="Calibri"/>
              </a:rPr>
              <a:t>Dendrogram (Orange Hierarchical Clustering)</a:t>
            </a:r>
          </a:p>
        </p:txBody>
      </p:sp>
      <p:pic>
        <p:nvPicPr>
          <p:cNvPr id="20" name="dendrogram"/>
          <p:cNvPicPr>
            <a:picLocks noChangeAspect="1"/>
          </p:cNvPicPr>
          <p:nvPr/>
        </p:nvPicPr>
        <p:blipFill>
          <a:blip r:embed="rId3"/>
          <a:stretch>
            <a:fillRect/>
          </a:stretch>
        </p:blipFill>
        <p:spPr>
          <a:xfrm>
            <a:off x="3931920" y="1435608"/>
            <a:ext cx="4754880" cy="2670048"/>
          </a:xfrm>
          <a:prstGeom prst="rect">
            <a:avLst/>
          </a:prstGeom>
          <a:ln w="9525">
            <a:solidFill>
              <a:srgbClr val="CBD5E1"/>
            </a:solidFill>
          </a:ln>
          <a:effectLst>
            <a:outerShdw blurRad="60960" dist="27432" dir="5400000" rotWithShape="0">
              <a:srgbClr val="000000">
                <a:alpha val="1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ill"/>
          <p:cNvSpPr/>
          <p:nvPr/>
        </p:nvSpPr>
        <p:spPr>
          <a:xfrm>
            <a:off x="457200" y="201168"/>
            <a:ext cx="2743200" cy="274320"/>
          </a:xfrm>
          <a:prstGeom prst="roundRect">
            <a:avLst>
              <a:gd name="adj" fmla="val 26667"/>
            </a:avLst>
          </a:prstGeom>
          <a:solidFill>
            <a:srgbClr val="D4F1F4"/>
          </a:solidFill>
          <a:ln>
            <a:noFill/>
          </a:ln>
        </p:spPr>
        <p:txBody>
          <a:bodyPr anchor="ctr"/>
          <a:lstStyle/>
          <a:p>
            <a:pPr algn="ctr"/>
            <a:r>
              <a:rPr lang="en-US" sz="900" b="1" dirty="0">
                <a:solidFill>
                  <a:srgbClr val="0A7E8C"/>
                </a:solidFill>
                <a:latin typeface="Calibri"/>
              </a:rPr>
              <a:t>HIERARCHICAL CLUSTERING</a:t>
            </a:r>
          </a:p>
        </p:txBody>
      </p:sp>
      <p:sp>
        <p:nvSpPr>
          <p:cNvPr id="3" name="title"/>
          <p:cNvSpPr/>
          <p:nvPr/>
        </p:nvSpPr>
        <p:spPr>
          <a:xfrm>
            <a:off x="457200" y="566928"/>
            <a:ext cx="8229600" cy="475488"/>
          </a:xfrm>
          <a:prstGeom prst="rect">
            <a:avLst/>
          </a:prstGeom>
          <a:noFill/>
        </p:spPr>
        <p:txBody>
          <a:bodyPr anchor="ctr"/>
          <a:lstStyle/>
          <a:p>
            <a:r>
              <a:rPr lang="en-US" sz="2200" b="1" dirty="0">
                <a:solidFill>
                  <a:srgbClr val="0D1F3C"/>
                </a:solidFill>
                <a:latin typeface="Cambria"/>
              </a:rPr>
              <a:t>UPDRS Severity by Hierarchical Cluster</a:t>
            </a:r>
          </a:p>
        </p:txBody>
      </p:sp>
      <p:sp>
        <p:nvSpPr>
          <p:cNvPr id="4" name="expl_card"/>
          <p:cNvSpPr/>
          <p:nvPr/>
        </p:nvSpPr>
        <p:spPr>
          <a:xfrm>
            <a:off x="457200" y="1115568"/>
            <a:ext cx="3063240" cy="3474720"/>
          </a:xfrm>
          <a:prstGeom prst="roundRect">
            <a:avLst>
              <a:gd name="adj" fmla="val 4898"/>
            </a:avLst>
          </a:prstGeom>
          <a:solidFill>
            <a:srgbClr val="0D1F3C"/>
          </a:solidFill>
          <a:ln>
            <a:noFill/>
          </a:ln>
          <a:effectLst>
            <a:outerShdw blurRad="60960" dist="27432" dir="5400000" rotWithShape="0">
              <a:srgbClr val="000000">
                <a:alpha val="12000"/>
              </a:srgbClr>
            </a:outerShdw>
          </a:effectLst>
        </p:spPr>
        <p:txBody>
          <a:bodyPr wrap="square" lIns="182880" tIns="182880" rIns="182880" bIns="182880" anchor="t"/>
          <a:lstStyle/>
          <a:p>
            <a:endParaRPr lang="en-US" sz="1200" b="1" dirty="0">
              <a:solidFill>
                <a:srgbClr val="D4F1F4"/>
              </a:solidFill>
              <a:latin typeface="Calibri"/>
            </a:endParaRPr>
          </a:p>
          <a:p>
            <a:endParaRPr lang="en-US" sz="1200" b="1" dirty="0">
              <a:solidFill>
                <a:srgbClr val="D4F1F4"/>
              </a:solidFill>
              <a:latin typeface="Calibri"/>
            </a:endParaRPr>
          </a:p>
          <a:p>
            <a:endParaRPr lang="en-US" sz="1200" b="1" dirty="0">
              <a:solidFill>
                <a:srgbClr val="D4F1F4"/>
              </a:solidFill>
              <a:latin typeface="Calibri"/>
            </a:endParaRPr>
          </a:p>
          <a:p>
            <a:endParaRPr lang="en-US" sz="1200" b="1" dirty="0">
              <a:solidFill>
                <a:srgbClr val="D4F1F4"/>
              </a:solidFill>
              <a:latin typeface="Calibri"/>
            </a:endParaRPr>
          </a:p>
          <a:p>
            <a:r>
              <a:rPr lang="en-US" sz="1200" b="1" dirty="0">
                <a:solidFill>
                  <a:srgbClr val="D4F1F4"/>
                </a:solidFill>
                <a:latin typeface="Calibri"/>
              </a:rPr>
              <a:t>What this shows</a:t>
            </a:r>
          </a:p>
          <a:p>
            <a:endParaRPr lang="en-US" sz="1200" b="1" dirty="0">
              <a:solidFill>
                <a:srgbClr val="D4F1F4"/>
              </a:solidFill>
              <a:latin typeface="Calibri"/>
            </a:endParaRPr>
          </a:p>
          <a:p>
            <a:r>
              <a:rPr lang="en-US" sz="1150" dirty="0">
                <a:solidFill>
                  <a:srgbClr val="FFFFFF"/>
                </a:solidFill>
              </a:rPr>
              <a:t>After clustering, we checked </a:t>
            </a:r>
            <a:r>
              <a:rPr lang="en-US" sz="1150" dirty="0" err="1">
                <a:solidFill>
                  <a:srgbClr val="FFFFFF"/>
                </a:solidFill>
              </a:rPr>
              <a:t>total_UPDRS</a:t>
            </a:r>
            <a:r>
              <a:rPr lang="en-US" sz="1150" dirty="0">
                <a:solidFill>
                  <a:srgbClr val="FFFFFF"/>
                </a:solidFill>
              </a:rPr>
              <a:t> as a Meta variable to see if clusters differed in severity — not used to build clusters, only to interpret them.</a:t>
            </a:r>
          </a:p>
        </p:txBody>
      </p:sp>
      <p:pic>
        <p:nvPicPr>
          <p:cNvPr id="5" name="bp_total_updrs"/>
          <p:cNvPicPr>
            <a:picLocks noChangeAspect="1"/>
          </p:cNvPicPr>
          <p:nvPr/>
        </p:nvPicPr>
        <p:blipFill>
          <a:blip r:embed="rId2"/>
          <a:stretch>
            <a:fillRect/>
          </a:stretch>
        </p:blipFill>
        <p:spPr>
          <a:xfrm>
            <a:off x="3749039" y="1005840"/>
            <a:ext cx="5029200" cy="3995928"/>
          </a:xfrm>
          <a:prstGeom prst="rect">
            <a:avLst/>
          </a:prstGeom>
          <a:ln w="9525">
            <a:solidFill>
              <a:srgbClr val="CBD5E1"/>
            </a:solidFill>
          </a:ln>
          <a:effectLst>
            <a:outerShdw blurRad="60960" dist="27432" dir="5400000" rotWithShape="0">
              <a:srgbClr val="000000">
                <a:alpha val="1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37744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377440" cy="274320"/>
          </a:xfrm>
          <a:prstGeom prst="rect">
            <a:avLst/>
          </a:prstGeom>
          <a:noFill/>
          <a:ln/>
        </p:spPr>
        <p:txBody>
          <a:bodyPr wrap="square" lIns="0" tIns="0" rIns="0" bIns="0" rtlCol="0" anchor="ctr"/>
          <a:lstStyle/>
          <a:p>
            <a:pPr marL="0" indent="0" algn="ctr">
              <a:buNone/>
            </a:pPr>
            <a:r>
              <a:rPr lang="en-US" sz="900" b="1" dirty="0">
                <a:solidFill>
                  <a:srgbClr val="0A7E8C"/>
                </a:solidFill>
              </a:rPr>
              <a:t>RESULTS SUMMARY</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Results Across All Three Methods</a:t>
            </a:r>
            <a:endParaRPr lang="en-US" sz="2200" dirty="0"/>
          </a:p>
        </p:txBody>
      </p:sp>
      <p:sp>
        <p:nvSpPr>
          <p:cNvPr id="5" name="Shape 3"/>
          <p:cNvSpPr/>
          <p:nvPr/>
        </p:nvSpPr>
        <p:spPr>
          <a:xfrm>
            <a:off x="457200" y="1024128"/>
            <a:ext cx="8229600" cy="1234440"/>
          </a:xfrm>
          <a:prstGeom prst="roundRect">
            <a:avLst>
              <a:gd name="adj" fmla="val 7407"/>
            </a:avLst>
          </a:prstGeom>
          <a:solidFill>
            <a:srgbClr val="F4F7F9"/>
          </a:solidFill>
          <a:ln w="25400">
            <a:solidFill>
              <a:srgbClr val="0A7E8C"/>
            </a:solidFill>
            <a:prstDash val="solid"/>
          </a:ln>
          <a:effectLst>
            <a:outerShdw blurRad="63500" dist="25400" dir="2700000" algn="bl" rotWithShape="0">
              <a:srgbClr val="000000">
                <a:alpha val="9000"/>
              </a:srgbClr>
            </a:outerShdw>
          </a:effectLst>
        </p:spPr>
        <p:txBody>
          <a:bodyPr/>
          <a:lstStyle/>
          <a:p>
            <a:endParaRPr lang="en-US"/>
          </a:p>
        </p:txBody>
      </p:sp>
      <p:sp>
        <p:nvSpPr>
          <p:cNvPr id="6" name="Shape 4"/>
          <p:cNvSpPr/>
          <p:nvPr/>
        </p:nvSpPr>
        <p:spPr>
          <a:xfrm>
            <a:off x="457200" y="1024128"/>
            <a:ext cx="1371600" cy="1234440"/>
          </a:xfrm>
          <a:prstGeom prst="roundRect">
            <a:avLst>
              <a:gd name="adj" fmla="val 7407"/>
            </a:avLst>
          </a:prstGeom>
          <a:solidFill>
            <a:srgbClr val="0A7E8C"/>
          </a:solidFill>
          <a:ln/>
        </p:spPr>
        <p:txBody>
          <a:bodyPr/>
          <a:lstStyle/>
          <a:p>
            <a:endParaRPr lang="en-US"/>
          </a:p>
        </p:txBody>
      </p:sp>
      <p:sp>
        <p:nvSpPr>
          <p:cNvPr id="7" name="Text 5"/>
          <p:cNvSpPr/>
          <p:nvPr/>
        </p:nvSpPr>
        <p:spPr>
          <a:xfrm>
            <a:off x="457200" y="1161288"/>
            <a:ext cx="13716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457200" y="1645920"/>
            <a:ext cx="13716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K-Means</a:t>
            </a:r>
            <a:endParaRPr lang="en-US" sz="1100" dirty="0"/>
          </a:p>
        </p:txBody>
      </p:sp>
      <p:sp>
        <p:nvSpPr>
          <p:cNvPr id="9" name="Text 7"/>
          <p:cNvSpPr/>
          <p:nvPr/>
        </p:nvSpPr>
        <p:spPr>
          <a:xfrm>
            <a:off x="1920240" y="1225296"/>
            <a:ext cx="6583680" cy="8046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k = 2 selected — silhouette score 0.746</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Two clear acoustic profiles: Higher and Lower Impairment</a:t>
            </a:r>
            <a:endParaRPr lang="en-US" sz="1250" dirty="0"/>
          </a:p>
        </p:txBody>
      </p:sp>
      <p:sp>
        <p:nvSpPr>
          <p:cNvPr id="10" name="Shape 8"/>
          <p:cNvSpPr/>
          <p:nvPr/>
        </p:nvSpPr>
        <p:spPr>
          <a:xfrm>
            <a:off x="457200" y="2395728"/>
            <a:ext cx="8229600" cy="1234440"/>
          </a:xfrm>
          <a:prstGeom prst="roundRect">
            <a:avLst>
              <a:gd name="adj" fmla="val 7407"/>
            </a:avLst>
          </a:prstGeom>
          <a:solidFill>
            <a:srgbClr val="F4F7F9"/>
          </a:solidFill>
          <a:ln w="25400">
            <a:solidFill>
              <a:srgbClr val="6B3FA0"/>
            </a:solidFill>
            <a:prstDash val="solid"/>
          </a:ln>
          <a:effectLst>
            <a:outerShdw blurRad="63500" dist="25400" dir="2700000" algn="bl" rotWithShape="0">
              <a:srgbClr val="000000">
                <a:alpha val="9000"/>
              </a:srgbClr>
            </a:outerShdw>
          </a:effectLst>
        </p:spPr>
        <p:txBody>
          <a:bodyPr/>
          <a:lstStyle/>
          <a:p>
            <a:endParaRPr lang="en-US"/>
          </a:p>
        </p:txBody>
      </p:sp>
      <p:sp>
        <p:nvSpPr>
          <p:cNvPr id="11" name="Shape 9"/>
          <p:cNvSpPr/>
          <p:nvPr/>
        </p:nvSpPr>
        <p:spPr>
          <a:xfrm>
            <a:off x="457200" y="2395728"/>
            <a:ext cx="1371600" cy="1234440"/>
          </a:xfrm>
          <a:prstGeom prst="roundRect">
            <a:avLst>
              <a:gd name="adj" fmla="val 7407"/>
            </a:avLst>
          </a:prstGeom>
          <a:solidFill>
            <a:srgbClr val="6B3FA0"/>
          </a:solidFill>
          <a:ln/>
        </p:spPr>
        <p:txBody>
          <a:bodyPr/>
          <a:lstStyle/>
          <a:p>
            <a:endParaRPr lang="en-US"/>
          </a:p>
        </p:txBody>
      </p:sp>
      <p:sp>
        <p:nvSpPr>
          <p:cNvPr id="12" name="Text 10"/>
          <p:cNvSpPr/>
          <p:nvPr/>
        </p:nvSpPr>
        <p:spPr>
          <a:xfrm>
            <a:off x="457200" y="2532888"/>
            <a:ext cx="13716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3" name="Text 11"/>
          <p:cNvSpPr/>
          <p:nvPr/>
        </p:nvSpPr>
        <p:spPr>
          <a:xfrm>
            <a:off x="457200" y="3017520"/>
            <a:ext cx="13716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PCA</a:t>
            </a:r>
            <a:endParaRPr lang="en-US" sz="1100" dirty="0"/>
          </a:p>
        </p:txBody>
      </p:sp>
      <p:sp>
        <p:nvSpPr>
          <p:cNvPr id="14" name="Text 12"/>
          <p:cNvSpPr/>
          <p:nvPr/>
        </p:nvSpPr>
        <p:spPr>
          <a:xfrm>
            <a:off x="1920240" y="2596896"/>
            <a:ext cx="6583680" cy="8046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PC1 + PC2 explain ~80.8% of variance</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Scatter plot shows visual separation supporting k = 2 clusters</a:t>
            </a:r>
            <a:endParaRPr lang="en-US" sz="1250" dirty="0"/>
          </a:p>
        </p:txBody>
      </p:sp>
      <p:sp>
        <p:nvSpPr>
          <p:cNvPr id="15" name="Shape 13"/>
          <p:cNvSpPr/>
          <p:nvPr/>
        </p:nvSpPr>
        <p:spPr>
          <a:xfrm>
            <a:off x="457200" y="3767328"/>
            <a:ext cx="8229600" cy="1234440"/>
          </a:xfrm>
          <a:prstGeom prst="roundRect">
            <a:avLst>
              <a:gd name="adj" fmla="val 7407"/>
            </a:avLst>
          </a:prstGeom>
          <a:solidFill>
            <a:srgbClr val="F4F7F9"/>
          </a:solidFill>
          <a:ln w="25400">
            <a:solidFill>
              <a:srgbClr val="0D1F3C"/>
            </a:solidFill>
            <a:prstDash val="solid"/>
          </a:ln>
          <a:effectLst>
            <a:outerShdw blurRad="63500" dist="25400" dir="2700000" algn="bl" rotWithShape="0">
              <a:srgbClr val="000000">
                <a:alpha val="9000"/>
              </a:srgbClr>
            </a:outerShdw>
          </a:effectLst>
        </p:spPr>
        <p:txBody>
          <a:bodyPr/>
          <a:lstStyle/>
          <a:p>
            <a:endParaRPr lang="en-US"/>
          </a:p>
        </p:txBody>
      </p:sp>
      <p:sp>
        <p:nvSpPr>
          <p:cNvPr id="16" name="Shape 14"/>
          <p:cNvSpPr/>
          <p:nvPr/>
        </p:nvSpPr>
        <p:spPr>
          <a:xfrm>
            <a:off x="457200" y="3767328"/>
            <a:ext cx="1371600" cy="1234440"/>
          </a:xfrm>
          <a:prstGeom prst="roundRect">
            <a:avLst>
              <a:gd name="adj" fmla="val 7407"/>
            </a:avLst>
          </a:prstGeom>
          <a:solidFill>
            <a:srgbClr val="0D1F3C"/>
          </a:solidFill>
          <a:ln/>
        </p:spPr>
        <p:txBody>
          <a:bodyPr/>
          <a:lstStyle/>
          <a:p>
            <a:endParaRPr lang="en-US"/>
          </a:p>
        </p:txBody>
      </p:sp>
      <p:sp>
        <p:nvSpPr>
          <p:cNvPr id="17" name="Text 15"/>
          <p:cNvSpPr/>
          <p:nvPr/>
        </p:nvSpPr>
        <p:spPr>
          <a:xfrm>
            <a:off x="457200" y="3904488"/>
            <a:ext cx="13716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457200" y="4389120"/>
            <a:ext cx="13716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Hierarchical</a:t>
            </a:r>
            <a:endParaRPr lang="en-US" sz="1100" dirty="0"/>
          </a:p>
        </p:txBody>
      </p:sp>
      <p:sp>
        <p:nvSpPr>
          <p:cNvPr id="19" name="Text 17"/>
          <p:cNvSpPr/>
          <p:nvPr/>
        </p:nvSpPr>
        <p:spPr>
          <a:xfrm>
            <a:off x="1920240" y="3968496"/>
            <a:ext cx="6583680" cy="8046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Dendrogram supports a small number of dominant groupings</a:t>
            </a:r>
            <a:endParaRPr lang="en-US" sz="1250" dirty="0"/>
          </a:p>
          <a:p>
            <a:pPr marL="0" indent="0">
              <a:buNone/>
            </a:pPr>
            <a:r>
              <a:rPr lang="en-US" sz="1250" dirty="0">
                <a:solidFill>
                  <a:srgbClr val="1E293B"/>
                </a:solidFill>
                <a:latin typeface="Calibri" pitchFamily="34" charset="0"/>
                <a:ea typeface="Calibri" pitchFamily="34" charset="-122"/>
                <a:cs typeface="Calibri" pitchFamily="34" charset="-120"/>
              </a:rPr>
              <a:t>Consistent with K-Means two-cluster result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D1F3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Final Cluster Labels &amp; Conclusion</a:t>
            </a:r>
            <a:endParaRPr lang="en-US" sz="2400" dirty="0"/>
          </a:p>
        </p:txBody>
      </p:sp>
      <p:sp>
        <p:nvSpPr>
          <p:cNvPr id="3" name="Shape 1"/>
          <p:cNvSpPr/>
          <p:nvPr/>
        </p:nvSpPr>
        <p:spPr>
          <a:xfrm>
            <a:off x="457200" y="1005840"/>
            <a:ext cx="3840480" cy="2240280"/>
          </a:xfrm>
          <a:prstGeom prst="roundRect">
            <a:avLst>
              <a:gd name="adj" fmla="val 5714"/>
            </a:avLst>
          </a:prstGeom>
          <a:solidFill>
            <a:srgbClr val="E05C5C"/>
          </a:solidFill>
          <a:ln/>
          <a:effectLst>
            <a:outerShdw blurRad="127000" dist="50800" dir="2700000" algn="bl" rotWithShape="0">
              <a:srgbClr val="000000">
                <a:alpha val="20000"/>
              </a:srgbClr>
            </a:outerShdw>
          </a:effectLst>
        </p:spPr>
        <p:txBody>
          <a:bodyPr/>
          <a:lstStyle/>
          <a:p>
            <a:endParaRPr lang="en-US"/>
          </a:p>
        </p:txBody>
      </p:sp>
      <p:sp>
        <p:nvSpPr>
          <p:cNvPr id="4" name="Text 2"/>
          <p:cNvSpPr/>
          <p:nvPr/>
        </p:nvSpPr>
        <p:spPr>
          <a:xfrm>
            <a:off x="594360" y="1097280"/>
            <a:ext cx="356616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Cluster C1</a:t>
            </a:r>
            <a:endParaRPr lang="en-US" sz="1400" dirty="0"/>
          </a:p>
        </p:txBody>
      </p:sp>
      <p:sp>
        <p:nvSpPr>
          <p:cNvPr id="5" name="Text 3"/>
          <p:cNvSpPr/>
          <p:nvPr/>
        </p:nvSpPr>
        <p:spPr>
          <a:xfrm>
            <a:off x="594360" y="1463040"/>
            <a:ext cx="3566160" cy="7315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Higher Acoustic</a:t>
            </a:r>
            <a:endParaRPr lang="en-US" sz="1800" dirty="0"/>
          </a:p>
          <a:p>
            <a:pPr marL="0" indent="0" algn="ctr">
              <a:buNone/>
            </a:pPr>
            <a:r>
              <a:rPr lang="en-US" sz="1800" b="1" dirty="0">
                <a:solidFill>
                  <a:srgbClr val="FFFFFF"/>
                </a:solidFill>
                <a:latin typeface="Cambria" pitchFamily="34" charset="0"/>
                <a:ea typeface="Cambria" pitchFamily="34" charset="-122"/>
                <a:cs typeface="Cambria" pitchFamily="34" charset="-120"/>
              </a:rPr>
              <a:t>Impairment Profile</a:t>
            </a:r>
            <a:endParaRPr lang="en-US" sz="1800" dirty="0"/>
          </a:p>
        </p:txBody>
      </p:sp>
      <p:sp>
        <p:nvSpPr>
          <p:cNvPr id="6" name="Text 4"/>
          <p:cNvSpPr/>
          <p:nvPr/>
        </p:nvSpPr>
        <p:spPr>
          <a:xfrm>
            <a:off x="594360" y="2240280"/>
            <a:ext cx="3566160" cy="685800"/>
          </a:xfrm>
          <a:prstGeom prst="rect">
            <a:avLst/>
          </a:prstGeom>
          <a:noFill/>
          <a:ln/>
        </p:spPr>
        <p:txBody>
          <a:bodyPr wrap="square" rtlCol="0" anchor="ctr"/>
          <a:lstStyle/>
          <a:p>
            <a:pPr marL="0" indent="0" algn="ctr">
              <a:buNone/>
            </a:pPr>
            <a:r>
              <a:rPr lang="en-US" sz="1100" dirty="0">
                <a:solidFill>
                  <a:srgbClr val="FFD0D0"/>
                </a:solidFill>
                <a:latin typeface="Calibri" pitchFamily="34" charset="0"/>
                <a:ea typeface="Calibri" pitchFamily="34" charset="-122"/>
                <a:cs typeface="Calibri" pitchFamily="34" charset="-120"/>
              </a:rPr>
              <a:t>motor_UPDRS: 23.55  ·  total_UPDRS: 31.08</a:t>
            </a:r>
            <a:endParaRPr lang="en-US" sz="1100" dirty="0"/>
          </a:p>
        </p:txBody>
      </p:sp>
      <p:sp>
        <p:nvSpPr>
          <p:cNvPr id="7" name="Shape 5"/>
          <p:cNvSpPr/>
          <p:nvPr/>
        </p:nvSpPr>
        <p:spPr>
          <a:xfrm>
            <a:off x="4846320" y="1005840"/>
            <a:ext cx="3840480" cy="2240280"/>
          </a:xfrm>
          <a:prstGeom prst="roundRect">
            <a:avLst>
              <a:gd name="adj" fmla="val 5714"/>
            </a:avLst>
          </a:prstGeom>
          <a:solidFill>
            <a:srgbClr val="0A7E8C"/>
          </a:solidFill>
          <a:ln/>
          <a:effectLst>
            <a:outerShdw blurRad="127000" dist="50800" dir="2700000" algn="bl" rotWithShape="0">
              <a:srgbClr val="000000">
                <a:alpha val="20000"/>
              </a:srgbClr>
            </a:outerShdw>
          </a:effectLst>
        </p:spPr>
        <p:txBody>
          <a:bodyPr/>
          <a:lstStyle/>
          <a:p>
            <a:endParaRPr lang="en-US"/>
          </a:p>
        </p:txBody>
      </p:sp>
      <p:sp>
        <p:nvSpPr>
          <p:cNvPr id="8" name="Text 6"/>
          <p:cNvSpPr/>
          <p:nvPr/>
        </p:nvSpPr>
        <p:spPr>
          <a:xfrm>
            <a:off x="4983480" y="1097280"/>
            <a:ext cx="356616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Cluster C2</a:t>
            </a:r>
            <a:endParaRPr lang="en-US" sz="1400" dirty="0"/>
          </a:p>
        </p:txBody>
      </p:sp>
      <p:sp>
        <p:nvSpPr>
          <p:cNvPr id="9" name="Text 7"/>
          <p:cNvSpPr/>
          <p:nvPr/>
        </p:nvSpPr>
        <p:spPr>
          <a:xfrm>
            <a:off x="4983480" y="1463040"/>
            <a:ext cx="3566160" cy="7315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Lower Acoustic</a:t>
            </a:r>
            <a:endParaRPr lang="en-US" sz="1800" dirty="0"/>
          </a:p>
          <a:p>
            <a:pPr marL="0" indent="0" algn="ctr">
              <a:buNone/>
            </a:pPr>
            <a:r>
              <a:rPr lang="en-US" sz="1800" b="1" dirty="0">
                <a:solidFill>
                  <a:srgbClr val="FFFFFF"/>
                </a:solidFill>
                <a:latin typeface="Cambria" pitchFamily="34" charset="0"/>
                <a:ea typeface="Cambria" pitchFamily="34" charset="-122"/>
                <a:cs typeface="Cambria" pitchFamily="34" charset="-120"/>
              </a:rPr>
              <a:t>Impairment Profile</a:t>
            </a:r>
            <a:endParaRPr lang="en-US" sz="1800" dirty="0"/>
          </a:p>
        </p:txBody>
      </p:sp>
      <p:sp>
        <p:nvSpPr>
          <p:cNvPr id="10" name="Text 8"/>
          <p:cNvSpPr/>
          <p:nvPr/>
        </p:nvSpPr>
        <p:spPr>
          <a:xfrm>
            <a:off x="4983480" y="2240280"/>
            <a:ext cx="3566160" cy="685800"/>
          </a:xfrm>
          <a:prstGeom prst="rect">
            <a:avLst/>
          </a:prstGeom>
          <a:noFill/>
          <a:ln/>
        </p:spPr>
        <p:txBody>
          <a:bodyPr wrap="square" rtlCol="0" anchor="ctr"/>
          <a:lstStyle/>
          <a:p>
            <a:pPr marL="0" indent="0" algn="ctr">
              <a:buNone/>
            </a:pPr>
            <a:r>
              <a:rPr lang="en-US" sz="1100" dirty="0">
                <a:solidFill>
                  <a:srgbClr val="D4F1F4"/>
                </a:solidFill>
                <a:latin typeface="Calibri" pitchFamily="34" charset="0"/>
                <a:ea typeface="Calibri" pitchFamily="34" charset="-122"/>
                <a:cs typeface="Calibri" pitchFamily="34" charset="-120"/>
              </a:rPr>
              <a:t>motor_UPDRS: 21.20  ·  total_UPDRS: 28.89</a:t>
            </a:r>
            <a:endParaRPr lang="en-US" sz="1100" dirty="0"/>
          </a:p>
        </p:txBody>
      </p:sp>
      <p:sp>
        <p:nvSpPr>
          <p:cNvPr id="11" name="Shape 9"/>
          <p:cNvSpPr/>
          <p:nvPr/>
        </p:nvSpPr>
        <p:spPr>
          <a:xfrm>
            <a:off x="457200" y="3401568"/>
            <a:ext cx="8229600" cy="475488"/>
          </a:xfrm>
          <a:prstGeom prst="roundRect">
            <a:avLst>
              <a:gd name="adj" fmla="val 15385"/>
            </a:avLst>
          </a:prstGeom>
          <a:solidFill>
            <a:srgbClr val="1A3051"/>
          </a:solidFill>
          <a:ln/>
        </p:spPr>
        <p:txBody>
          <a:bodyPr/>
          <a:lstStyle/>
          <a:p>
            <a:endParaRPr lang="en-US"/>
          </a:p>
        </p:txBody>
      </p:sp>
      <p:sp>
        <p:nvSpPr>
          <p:cNvPr id="12" name="Text 10"/>
          <p:cNvSpPr/>
          <p:nvPr/>
        </p:nvSpPr>
        <p:spPr>
          <a:xfrm>
            <a:off x="640080" y="3401568"/>
            <a:ext cx="7863840" cy="4754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①  K-Means and Hierarchical Clustering both supported a two-profile structure in voice data.</a:t>
            </a:r>
            <a:endParaRPr lang="en-US" sz="1200" dirty="0"/>
          </a:p>
        </p:txBody>
      </p:sp>
      <p:sp>
        <p:nvSpPr>
          <p:cNvPr id="13" name="Shape 11"/>
          <p:cNvSpPr/>
          <p:nvPr/>
        </p:nvSpPr>
        <p:spPr>
          <a:xfrm>
            <a:off x="457200" y="3968496"/>
            <a:ext cx="8229600" cy="475488"/>
          </a:xfrm>
          <a:prstGeom prst="roundRect">
            <a:avLst>
              <a:gd name="adj" fmla="val 15385"/>
            </a:avLst>
          </a:prstGeom>
          <a:solidFill>
            <a:srgbClr val="1A3051"/>
          </a:solidFill>
          <a:ln/>
        </p:spPr>
        <p:txBody>
          <a:bodyPr/>
          <a:lstStyle/>
          <a:p>
            <a:endParaRPr lang="en-US"/>
          </a:p>
        </p:txBody>
      </p:sp>
      <p:sp>
        <p:nvSpPr>
          <p:cNvPr id="14" name="Text 12"/>
          <p:cNvSpPr/>
          <p:nvPr/>
        </p:nvSpPr>
        <p:spPr>
          <a:xfrm>
            <a:off x="640080" y="3968496"/>
            <a:ext cx="7863840" cy="4754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②  PCA confirmed visual separation, with PC1 + PC2 explaining ~80.8% of variance.</a:t>
            </a:r>
            <a:endParaRPr lang="en-US" sz="1200" dirty="0"/>
          </a:p>
        </p:txBody>
      </p:sp>
      <p:sp>
        <p:nvSpPr>
          <p:cNvPr id="15" name="Shape 13"/>
          <p:cNvSpPr/>
          <p:nvPr/>
        </p:nvSpPr>
        <p:spPr>
          <a:xfrm>
            <a:off x="457200" y="4535424"/>
            <a:ext cx="8229600" cy="475488"/>
          </a:xfrm>
          <a:prstGeom prst="roundRect">
            <a:avLst>
              <a:gd name="adj" fmla="val 15385"/>
            </a:avLst>
          </a:prstGeom>
          <a:solidFill>
            <a:srgbClr val="1A3051"/>
          </a:solidFill>
          <a:ln/>
        </p:spPr>
        <p:txBody>
          <a:bodyPr/>
          <a:lstStyle/>
          <a:p>
            <a:endParaRPr lang="en-US"/>
          </a:p>
        </p:txBody>
      </p:sp>
      <p:sp>
        <p:nvSpPr>
          <p:cNvPr id="16" name="Text 14"/>
          <p:cNvSpPr/>
          <p:nvPr/>
        </p:nvSpPr>
        <p:spPr>
          <a:xfrm>
            <a:off x="640080" y="4535424"/>
            <a:ext cx="7863840" cy="4754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③  Acoustic clusters may reflect differences in UPDRS symptom severity — no clinical labels were used.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01168"/>
            <a:ext cx="2194560" cy="274320"/>
          </a:xfrm>
          <a:prstGeom prst="roundRect">
            <a:avLst>
              <a:gd name="adj" fmla="val 26667"/>
            </a:avLst>
          </a:prstGeom>
          <a:solidFill>
            <a:srgbClr val="D4F1F4"/>
          </a:solidFill>
          <a:ln/>
        </p:spPr>
        <p:txBody>
          <a:bodyPr/>
          <a:lstStyle/>
          <a:p>
            <a:endParaRPr lang="en-US"/>
          </a:p>
        </p:txBody>
      </p:sp>
      <p:sp>
        <p:nvSpPr>
          <p:cNvPr id="3" name="Text 1"/>
          <p:cNvSpPr/>
          <p:nvPr/>
        </p:nvSpPr>
        <p:spPr>
          <a:xfrm>
            <a:off x="457200" y="201168"/>
            <a:ext cx="2194560" cy="274320"/>
          </a:xfrm>
          <a:prstGeom prst="rect">
            <a:avLst/>
          </a:prstGeom>
          <a:noFill/>
          <a:ln/>
        </p:spPr>
        <p:txBody>
          <a:bodyPr wrap="square" lIns="0" tIns="0" rIns="0" bIns="0" rtlCol="0" anchor="ctr"/>
          <a:lstStyle/>
          <a:p>
            <a:pPr marL="0" indent="0" algn="ctr">
              <a:buNone/>
            </a:pPr>
            <a:r>
              <a:rPr lang="en-US" sz="900" b="1" dirty="0">
                <a:solidFill>
                  <a:srgbClr val="0A7E8C"/>
                </a:solidFill>
              </a:rPr>
              <a:t>LIMITATIONS</a:t>
            </a:r>
            <a:endParaRPr lang="en-US" sz="900" dirty="0"/>
          </a:p>
        </p:txBody>
      </p:sp>
      <p:sp>
        <p:nvSpPr>
          <p:cNvPr id="4" name="Text 2"/>
          <p:cNvSpPr/>
          <p:nvPr/>
        </p:nvSpPr>
        <p:spPr>
          <a:xfrm>
            <a:off x="457200" y="566928"/>
            <a:ext cx="8229600" cy="530352"/>
          </a:xfrm>
          <a:prstGeom prst="rect">
            <a:avLst/>
          </a:prstGeom>
          <a:noFill/>
          <a:ln/>
        </p:spPr>
        <p:txBody>
          <a:bodyPr wrap="square" rtlCol="0" anchor="ctr"/>
          <a:lstStyle/>
          <a:p>
            <a:pPr marL="0" indent="0">
              <a:buNone/>
            </a:pPr>
            <a:r>
              <a:rPr lang="en-US" sz="2200" b="1" dirty="0">
                <a:solidFill>
                  <a:srgbClr val="0D1F3C"/>
                </a:solidFill>
                <a:latin typeface="Cambria" pitchFamily="34" charset="0"/>
                <a:ea typeface="Cambria" pitchFamily="34" charset="-122"/>
                <a:cs typeface="Cambria" pitchFamily="34" charset="-120"/>
              </a:rPr>
              <a:t>Limitations &amp; Future Work</a:t>
            </a:r>
            <a:endParaRPr lang="en-US" sz="2200" dirty="0"/>
          </a:p>
        </p:txBody>
      </p:sp>
      <p:sp>
        <p:nvSpPr>
          <p:cNvPr id="5" name="Shape 3"/>
          <p:cNvSpPr/>
          <p:nvPr/>
        </p:nvSpPr>
        <p:spPr>
          <a:xfrm>
            <a:off x="457200" y="1005840"/>
            <a:ext cx="4114800" cy="1645920"/>
          </a:xfrm>
          <a:prstGeom prst="roundRect">
            <a:avLst>
              <a:gd name="adj" fmla="val 5556"/>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6" name="Text 4"/>
          <p:cNvSpPr/>
          <p:nvPr/>
        </p:nvSpPr>
        <p:spPr>
          <a:xfrm>
            <a:off x="621792" y="1115568"/>
            <a:ext cx="3785616" cy="27432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Repeated Measures</a:t>
            </a:r>
            <a:endParaRPr lang="en-US" sz="1200" dirty="0"/>
          </a:p>
        </p:txBody>
      </p:sp>
      <p:sp>
        <p:nvSpPr>
          <p:cNvPr id="7" name="Text 5"/>
          <p:cNvSpPr/>
          <p:nvPr/>
        </p:nvSpPr>
        <p:spPr>
          <a:xfrm>
            <a:off x="621792" y="1426464"/>
            <a:ext cx="3785616" cy="111556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Multiple recordings per patient mean rows aren't independent. Cluster assignments may be driven by individual voice characteristics rather than disease state.</a:t>
            </a:r>
            <a:endParaRPr lang="en-US" sz="1100" dirty="0"/>
          </a:p>
        </p:txBody>
      </p:sp>
      <p:sp>
        <p:nvSpPr>
          <p:cNvPr id="8" name="Shape 6"/>
          <p:cNvSpPr/>
          <p:nvPr/>
        </p:nvSpPr>
        <p:spPr>
          <a:xfrm>
            <a:off x="4800600" y="1005840"/>
            <a:ext cx="4114800" cy="1645920"/>
          </a:xfrm>
          <a:prstGeom prst="roundRect">
            <a:avLst>
              <a:gd name="adj" fmla="val 5556"/>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9" name="Text 7"/>
          <p:cNvSpPr/>
          <p:nvPr/>
        </p:nvSpPr>
        <p:spPr>
          <a:xfrm>
            <a:off x="4965192" y="1115568"/>
            <a:ext cx="3785616" cy="27432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Sampling Constraint</a:t>
            </a:r>
            <a:endParaRPr lang="en-US" sz="1200" dirty="0"/>
          </a:p>
        </p:txBody>
      </p:sp>
      <p:sp>
        <p:nvSpPr>
          <p:cNvPr id="10" name="Text 8"/>
          <p:cNvSpPr/>
          <p:nvPr/>
        </p:nvSpPr>
        <p:spPr>
          <a:xfrm>
            <a:off x="4965192" y="1426464"/>
            <a:ext cx="3785616" cy="111556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We used 4,000 of 5,875 rows due to Orange's silhouette limit. A different random seed could shift cluster boundaries slightly.</a:t>
            </a:r>
            <a:endParaRPr lang="en-US" sz="1100" dirty="0"/>
          </a:p>
        </p:txBody>
      </p:sp>
      <p:sp>
        <p:nvSpPr>
          <p:cNvPr id="11" name="Shape 9"/>
          <p:cNvSpPr/>
          <p:nvPr/>
        </p:nvSpPr>
        <p:spPr>
          <a:xfrm>
            <a:off x="457200" y="2788920"/>
            <a:ext cx="4114800" cy="1645920"/>
          </a:xfrm>
          <a:prstGeom prst="roundRect">
            <a:avLst>
              <a:gd name="adj" fmla="val 5556"/>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12" name="Text 10"/>
          <p:cNvSpPr/>
          <p:nvPr/>
        </p:nvSpPr>
        <p:spPr>
          <a:xfrm>
            <a:off x="621792" y="2898648"/>
            <a:ext cx="3785616" cy="27432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Binary Interpretation</a:t>
            </a:r>
            <a:endParaRPr lang="en-US" sz="1200" dirty="0"/>
          </a:p>
        </p:txBody>
      </p:sp>
      <p:sp>
        <p:nvSpPr>
          <p:cNvPr id="13" name="Text 11"/>
          <p:cNvSpPr/>
          <p:nvPr/>
        </p:nvSpPr>
        <p:spPr>
          <a:xfrm>
            <a:off x="621792" y="3209544"/>
            <a:ext cx="3785616" cy="111556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k = 2 is clean and interpretable, but acoustic impairment likely exists on a continuum — not as two discrete groups.</a:t>
            </a:r>
            <a:endParaRPr lang="en-US" sz="1100" dirty="0"/>
          </a:p>
        </p:txBody>
      </p:sp>
      <p:sp>
        <p:nvSpPr>
          <p:cNvPr id="14" name="Shape 12"/>
          <p:cNvSpPr/>
          <p:nvPr/>
        </p:nvSpPr>
        <p:spPr>
          <a:xfrm>
            <a:off x="4800600" y="2788920"/>
            <a:ext cx="4114800" cy="1645920"/>
          </a:xfrm>
          <a:prstGeom prst="roundRect">
            <a:avLst>
              <a:gd name="adj" fmla="val 5556"/>
            </a:avLst>
          </a:prstGeom>
          <a:solidFill>
            <a:srgbClr val="F4F7F9"/>
          </a:solidFill>
          <a:ln/>
          <a:effectLst>
            <a:outerShdw blurRad="76200" dist="25400" dir="2700000" algn="bl" rotWithShape="0">
              <a:srgbClr val="000000">
                <a:alpha val="10000"/>
              </a:srgbClr>
            </a:outerShdw>
          </a:effectLst>
        </p:spPr>
        <p:txBody>
          <a:bodyPr/>
          <a:lstStyle/>
          <a:p>
            <a:endParaRPr lang="en-US"/>
          </a:p>
        </p:txBody>
      </p:sp>
      <p:sp>
        <p:nvSpPr>
          <p:cNvPr id="15" name="Text 13"/>
          <p:cNvSpPr/>
          <p:nvPr/>
        </p:nvSpPr>
        <p:spPr>
          <a:xfrm>
            <a:off x="4965192" y="2898648"/>
            <a:ext cx="3785616" cy="27432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Correlation, Not Causation</a:t>
            </a:r>
            <a:endParaRPr lang="en-US" sz="1200" dirty="0"/>
          </a:p>
        </p:txBody>
      </p:sp>
      <p:sp>
        <p:nvSpPr>
          <p:cNvPr id="16" name="Text 14"/>
          <p:cNvSpPr/>
          <p:nvPr/>
        </p:nvSpPr>
        <p:spPr>
          <a:xfrm>
            <a:off x="4965192" y="3209544"/>
            <a:ext cx="3785616" cy="1115568"/>
          </a:xfrm>
          <a:prstGeom prst="rect">
            <a:avLst/>
          </a:prstGeom>
          <a:noFill/>
          <a:ln/>
        </p:spPr>
        <p:txBody>
          <a:bodyPr wrap="square" rtlCol="0" anchor="t"/>
          <a:lstStyle/>
          <a:p>
            <a:pPr marL="0" indent="0">
              <a:buNone/>
            </a:pPr>
            <a:r>
              <a:rPr lang="en-US" sz="1100" dirty="0">
                <a:solidFill>
                  <a:srgbClr val="1E293B"/>
                </a:solidFill>
                <a:latin typeface="Calibri" pitchFamily="34" charset="0"/>
                <a:ea typeface="Calibri" pitchFamily="34" charset="-122"/>
                <a:cs typeface="Calibri" pitchFamily="34" charset="-120"/>
              </a:rPr>
              <a:t>UPDRS differences across clusters are associations, not evidence that voice features cause symptom severity.</a:t>
            </a:r>
            <a:endParaRPr lang="en-US" sz="1100" dirty="0"/>
          </a:p>
        </p:txBody>
      </p:sp>
      <p:sp>
        <p:nvSpPr>
          <p:cNvPr id="17" name="Shape 15"/>
          <p:cNvSpPr/>
          <p:nvPr/>
        </p:nvSpPr>
        <p:spPr>
          <a:xfrm>
            <a:off x="457200" y="4480560"/>
            <a:ext cx="8229600" cy="566928"/>
          </a:xfrm>
          <a:prstGeom prst="roundRect">
            <a:avLst>
              <a:gd name="adj" fmla="val 12903"/>
            </a:avLst>
          </a:prstGeom>
          <a:solidFill>
            <a:srgbClr val="D4F1F4"/>
          </a:solidFill>
          <a:ln/>
        </p:spPr>
        <p:txBody>
          <a:bodyPr/>
          <a:lstStyle/>
          <a:p>
            <a:endParaRPr lang="en-US"/>
          </a:p>
        </p:txBody>
      </p:sp>
      <p:sp>
        <p:nvSpPr>
          <p:cNvPr id="18" name="Text 16"/>
          <p:cNvSpPr/>
          <p:nvPr/>
        </p:nvSpPr>
        <p:spPr>
          <a:xfrm>
            <a:off x="594360" y="4494276"/>
            <a:ext cx="7955280" cy="566928"/>
          </a:xfrm>
          <a:prstGeom prst="rect">
            <a:avLst/>
          </a:prstGeom>
          <a:noFill/>
          <a:ln/>
        </p:spPr>
        <p:txBody>
          <a:bodyPr wrap="square" rtlCol="0" anchor="ctr"/>
          <a:lstStyle/>
          <a:p>
            <a:pPr marL="0" indent="0">
              <a:buNone/>
            </a:pPr>
            <a:r>
              <a:rPr lang="en-US" sz="1100" b="1" dirty="0">
                <a:solidFill>
                  <a:srgbClr val="0A7E8C"/>
                </a:solidFill>
                <a:latin typeface="Calibri" pitchFamily="34" charset="0"/>
                <a:ea typeface="Calibri" pitchFamily="34" charset="-122"/>
                <a:cs typeface="Calibri" pitchFamily="34" charset="-120"/>
              </a:rPr>
              <a:t>Future Work:  Patient-level aggregation  ·  DBSCAN or GMM  ·  Longitudinal cluster tracking  ·  Feature importance via PCA loadings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0D1F3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66928"/>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References</a:t>
            </a:r>
            <a:endParaRPr lang="en-US" sz="2600" dirty="0"/>
          </a:p>
        </p:txBody>
      </p:sp>
      <p:sp>
        <p:nvSpPr>
          <p:cNvPr id="3" name="Shape 1"/>
          <p:cNvSpPr/>
          <p:nvPr/>
        </p:nvSpPr>
        <p:spPr>
          <a:xfrm>
            <a:off x="457200" y="960120"/>
            <a:ext cx="8229600" cy="621792"/>
          </a:xfrm>
          <a:prstGeom prst="roundRect">
            <a:avLst>
              <a:gd name="adj" fmla="val 10294"/>
            </a:avLst>
          </a:prstGeom>
          <a:solidFill>
            <a:srgbClr val="1A3051"/>
          </a:solidFill>
          <a:ln/>
        </p:spPr>
        <p:txBody>
          <a:bodyPr/>
          <a:lstStyle/>
          <a:p>
            <a:endParaRPr lang="en-US"/>
          </a:p>
        </p:txBody>
      </p:sp>
      <p:sp>
        <p:nvSpPr>
          <p:cNvPr id="4" name="Text 2"/>
          <p:cNvSpPr/>
          <p:nvPr/>
        </p:nvSpPr>
        <p:spPr>
          <a:xfrm>
            <a:off x="640080" y="978408"/>
            <a:ext cx="7863840" cy="585216"/>
          </a:xfrm>
          <a:prstGeom prst="rect">
            <a:avLst/>
          </a:prstGeom>
          <a:noFill/>
          <a:ln/>
        </p:spPr>
        <p:txBody>
          <a:bodyPr wrap="square" rtlCol="0" anchor="ctr"/>
          <a:lstStyle/>
          <a:p>
            <a:pPr marL="0" indent="0">
              <a:buNone/>
            </a:pPr>
            <a:r>
              <a:rPr lang="en-US" sz="950" dirty="0">
                <a:solidFill>
                  <a:srgbClr val="BFCFE8"/>
                </a:solidFill>
                <a:latin typeface="Calibri" pitchFamily="34" charset="0"/>
                <a:ea typeface="Calibri" pitchFamily="34" charset="-122"/>
                <a:cs typeface="Calibri" pitchFamily="34" charset="-120"/>
              </a:rPr>
              <a:t>[1]  A. Tsanas &amp; M.A. Little (2010). Parkinson's Telemonitoring Voice Measurements. UCI Machine Learning Repository. Dataset ID: 189. https://archive.ics.uci.edu/dataset/189/parkinsons+telemonitoring</a:t>
            </a:r>
            <a:endParaRPr lang="en-US" sz="950" dirty="0"/>
          </a:p>
        </p:txBody>
      </p:sp>
      <p:sp>
        <p:nvSpPr>
          <p:cNvPr id="5" name="Shape 3"/>
          <p:cNvSpPr/>
          <p:nvPr/>
        </p:nvSpPr>
        <p:spPr>
          <a:xfrm>
            <a:off x="457200" y="1664208"/>
            <a:ext cx="8229600" cy="621792"/>
          </a:xfrm>
          <a:prstGeom prst="roundRect">
            <a:avLst>
              <a:gd name="adj" fmla="val 10294"/>
            </a:avLst>
          </a:prstGeom>
          <a:solidFill>
            <a:srgbClr val="1A3051"/>
          </a:solidFill>
          <a:ln/>
        </p:spPr>
        <p:txBody>
          <a:bodyPr/>
          <a:lstStyle/>
          <a:p>
            <a:endParaRPr lang="en-US"/>
          </a:p>
        </p:txBody>
      </p:sp>
      <p:sp>
        <p:nvSpPr>
          <p:cNvPr id="6" name="Text 4"/>
          <p:cNvSpPr/>
          <p:nvPr/>
        </p:nvSpPr>
        <p:spPr>
          <a:xfrm>
            <a:off x="640080" y="1682496"/>
            <a:ext cx="7863840" cy="585216"/>
          </a:xfrm>
          <a:prstGeom prst="rect">
            <a:avLst/>
          </a:prstGeom>
          <a:noFill/>
          <a:ln/>
        </p:spPr>
        <p:txBody>
          <a:bodyPr wrap="square" rtlCol="0" anchor="ctr"/>
          <a:lstStyle/>
          <a:p>
            <a:pPr marL="0" indent="0">
              <a:buNone/>
            </a:pPr>
            <a:r>
              <a:rPr lang="en-US" sz="950" dirty="0">
                <a:solidFill>
                  <a:srgbClr val="BFCFE8"/>
                </a:solidFill>
                <a:latin typeface="Calibri" pitchFamily="34" charset="0"/>
                <a:ea typeface="Calibri" pitchFamily="34" charset="-122"/>
                <a:cs typeface="Calibri" pitchFamily="34" charset="-120"/>
              </a:rPr>
              <a:t>[2]  Tsanas, A., Little, M.A., McSharry, P.E., &amp; Ramig, L.O. (2010). Accurate telemonitoring of Parkinson's disease progression by noninvasive speech tests. IEEE Transactions on Biomedical Engineering, 57(4), 884–893.</a:t>
            </a:r>
            <a:endParaRPr lang="en-US" sz="950" dirty="0"/>
          </a:p>
        </p:txBody>
      </p:sp>
      <p:sp>
        <p:nvSpPr>
          <p:cNvPr id="7" name="Shape 5"/>
          <p:cNvSpPr/>
          <p:nvPr/>
        </p:nvSpPr>
        <p:spPr>
          <a:xfrm>
            <a:off x="457200" y="2368296"/>
            <a:ext cx="8229600" cy="621792"/>
          </a:xfrm>
          <a:prstGeom prst="roundRect">
            <a:avLst>
              <a:gd name="adj" fmla="val 10294"/>
            </a:avLst>
          </a:prstGeom>
          <a:solidFill>
            <a:srgbClr val="1A3051"/>
          </a:solidFill>
          <a:ln/>
        </p:spPr>
        <p:txBody>
          <a:bodyPr/>
          <a:lstStyle/>
          <a:p>
            <a:endParaRPr lang="en-US"/>
          </a:p>
        </p:txBody>
      </p:sp>
      <p:sp>
        <p:nvSpPr>
          <p:cNvPr id="8" name="Text 6"/>
          <p:cNvSpPr/>
          <p:nvPr/>
        </p:nvSpPr>
        <p:spPr>
          <a:xfrm>
            <a:off x="640080" y="2386584"/>
            <a:ext cx="7863840" cy="585216"/>
          </a:xfrm>
          <a:prstGeom prst="rect">
            <a:avLst/>
          </a:prstGeom>
          <a:noFill/>
          <a:ln/>
        </p:spPr>
        <p:txBody>
          <a:bodyPr wrap="square" rtlCol="0" anchor="ctr"/>
          <a:lstStyle/>
          <a:p>
            <a:pPr marL="0" indent="0">
              <a:buNone/>
            </a:pPr>
            <a:r>
              <a:rPr lang="en-US" sz="950" dirty="0">
                <a:solidFill>
                  <a:srgbClr val="BFCFE8"/>
                </a:solidFill>
                <a:latin typeface="Calibri" pitchFamily="34" charset="0"/>
                <a:ea typeface="Calibri" pitchFamily="34" charset="-122"/>
                <a:cs typeface="Calibri" pitchFamily="34" charset="-120"/>
              </a:rPr>
              <a:t>[3]  Orange Data Mining. (n.d.). Orange Canvas — Visual Programming &amp; Data Analysis. https://orangedatamining.com</a:t>
            </a:r>
            <a:endParaRPr lang="en-US" sz="950" dirty="0"/>
          </a:p>
        </p:txBody>
      </p:sp>
      <p:sp>
        <p:nvSpPr>
          <p:cNvPr id="9" name="Shape 7"/>
          <p:cNvSpPr/>
          <p:nvPr/>
        </p:nvSpPr>
        <p:spPr>
          <a:xfrm>
            <a:off x="457200" y="3072384"/>
            <a:ext cx="8229600" cy="621792"/>
          </a:xfrm>
          <a:prstGeom prst="roundRect">
            <a:avLst>
              <a:gd name="adj" fmla="val 10294"/>
            </a:avLst>
          </a:prstGeom>
          <a:solidFill>
            <a:srgbClr val="1A3051"/>
          </a:solidFill>
          <a:ln/>
        </p:spPr>
        <p:txBody>
          <a:bodyPr/>
          <a:lstStyle/>
          <a:p>
            <a:endParaRPr lang="en-US"/>
          </a:p>
        </p:txBody>
      </p:sp>
      <p:sp>
        <p:nvSpPr>
          <p:cNvPr id="10" name="Text 8"/>
          <p:cNvSpPr/>
          <p:nvPr/>
        </p:nvSpPr>
        <p:spPr>
          <a:xfrm>
            <a:off x="640080" y="3090672"/>
            <a:ext cx="7863840" cy="585216"/>
          </a:xfrm>
          <a:prstGeom prst="rect">
            <a:avLst/>
          </a:prstGeom>
          <a:noFill/>
          <a:ln/>
        </p:spPr>
        <p:txBody>
          <a:bodyPr wrap="square" rtlCol="0" anchor="ctr"/>
          <a:lstStyle/>
          <a:p>
            <a:pPr marL="0" indent="0">
              <a:buNone/>
            </a:pPr>
            <a:r>
              <a:rPr lang="en-US" sz="950" dirty="0">
                <a:solidFill>
                  <a:srgbClr val="BFCFE8"/>
                </a:solidFill>
                <a:latin typeface="Calibri" pitchFamily="34" charset="0"/>
                <a:ea typeface="Calibri" pitchFamily="34" charset="-122"/>
                <a:cs typeface="Calibri" pitchFamily="34" charset="-120"/>
              </a:rPr>
              <a:t>[4]  Rousseeuw, P.J. (1987). Silhouettes: A graphical aid to interpretation and validation of cluster analysis. Journal of Computational and Applied Mathematics, 20, 53–65.</a:t>
            </a:r>
            <a:endParaRPr lang="en-US" sz="950" dirty="0"/>
          </a:p>
        </p:txBody>
      </p:sp>
      <p:sp>
        <p:nvSpPr>
          <p:cNvPr id="11" name="Shape 9"/>
          <p:cNvSpPr/>
          <p:nvPr/>
        </p:nvSpPr>
        <p:spPr>
          <a:xfrm>
            <a:off x="457200" y="3776472"/>
            <a:ext cx="8229600" cy="621792"/>
          </a:xfrm>
          <a:prstGeom prst="roundRect">
            <a:avLst>
              <a:gd name="adj" fmla="val 10294"/>
            </a:avLst>
          </a:prstGeom>
          <a:solidFill>
            <a:srgbClr val="1A3051"/>
          </a:solidFill>
          <a:ln/>
        </p:spPr>
        <p:txBody>
          <a:bodyPr/>
          <a:lstStyle/>
          <a:p>
            <a:endParaRPr lang="en-US"/>
          </a:p>
        </p:txBody>
      </p:sp>
      <p:sp>
        <p:nvSpPr>
          <p:cNvPr id="12" name="Text 10"/>
          <p:cNvSpPr/>
          <p:nvPr/>
        </p:nvSpPr>
        <p:spPr>
          <a:xfrm>
            <a:off x="640080" y="3794760"/>
            <a:ext cx="7863840" cy="585216"/>
          </a:xfrm>
          <a:prstGeom prst="rect">
            <a:avLst/>
          </a:prstGeom>
          <a:noFill/>
          <a:ln/>
        </p:spPr>
        <p:txBody>
          <a:bodyPr wrap="square" rtlCol="0" anchor="ctr"/>
          <a:lstStyle/>
          <a:p>
            <a:pPr marL="0" indent="0">
              <a:buNone/>
            </a:pPr>
            <a:r>
              <a:rPr lang="en-US" sz="950" dirty="0">
                <a:solidFill>
                  <a:srgbClr val="BFCFE8"/>
                </a:solidFill>
                <a:latin typeface="Calibri" pitchFamily="34" charset="0"/>
                <a:ea typeface="Calibri" pitchFamily="34" charset="-122"/>
                <a:cs typeface="Calibri" pitchFamily="34" charset="-120"/>
              </a:rPr>
              <a:t>[5]  MacQueen, J.B. (1967). Some methods for classification and analysis of multivariate observations. Proceedings of the Fifth Berkeley Symposium on Mathematical Statistics and Probability, 1, 281–297.</a:t>
            </a:r>
            <a:endParaRPr lang="en-US" sz="950" dirty="0"/>
          </a:p>
        </p:txBody>
      </p:sp>
      <p:sp>
        <p:nvSpPr>
          <p:cNvPr id="13" name="Shape 11"/>
          <p:cNvSpPr/>
          <p:nvPr/>
        </p:nvSpPr>
        <p:spPr>
          <a:xfrm>
            <a:off x="457200" y="4480560"/>
            <a:ext cx="8229600" cy="621792"/>
          </a:xfrm>
          <a:prstGeom prst="roundRect">
            <a:avLst>
              <a:gd name="adj" fmla="val 10294"/>
            </a:avLst>
          </a:prstGeom>
          <a:solidFill>
            <a:srgbClr val="1A3051"/>
          </a:solidFill>
          <a:ln/>
        </p:spPr>
        <p:txBody>
          <a:bodyPr/>
          <a:lstStyle/>
          <a:p>
            <a:endParaRPr lang="en-US"/>
          </a:p>
        </p:txBody>
      </p:sp>
      <p:sp>
        <p:nvSpPr>
          <p:cNvPr id="14" name="Text 12"/>
          <p:cNvSpPr/>
          <p:nvPr/>
        </p:nvSpPr>
        <p:spPr>
          <a:xfrm>
            <a:off x="640080" y="4498848"/>
            <a:ext cx="7863840" cy="585216"/>
          </a:xfrm>
          <a:prstGeom prst="rect">
            <a:avLst/>
          </a:prstGeom>
          <a:noFill/>
          <a:ln/>
        </p:spPr>
        <p:txBody>
          <a:bodyPr wrap="square" rtlCol="0" anchor="ctr"/>
          <a:lstStyle/>
          <a:p>
            <a:pPr marL="0" indent="0">
              <a:buNone/>
            </a:pPr>
            <a:r>
              <a:rPr lang="en-US" sz="950" dirty="0">
                <a:solidFill>
                  <a:srgbClr val="BFCFE8"/>
                </a:solidFill>
                <a:latin typeface="Calibri" pitchFamily="34" charset="0"/>
                <a:ea typeface="Calibri" pitchFamily="34" charset="-122"/>
                <a:cs typeface="Calibri" pitchFamily="34" charset="-120"/>
              </a:rPr>
              <a:t>[6]  Jolliffe, I.T. (2002). Principal Component Analysis (2nd ed.). Springer.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2682</Words>
  <Application>Microsoft Office PowerPoint</Application>
  <PresentationFormat>On-screen Show (16:9)</PresentationFormat>
  <Paragraphs>258</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Parkinson's Telemonitoring Voice Measurements</dc:title>
  <dc:subject>PptxGenJS Presentation</dc:subject>
  <dc:creator>Rakshan Urooj Syed &amp; Bhaveen Mehta</dc:creator>
  <cp:lastModifiedBy>Rayyan Sarwar Syed</cp:lastModifiedBy>
  <cp:revision>9</cp:revision>
  <dcterms:created xsi:type="dcterms:W3CDTF">2026-06-14T20:32:07Z</dcterms:created>
  <dcterms:modified xsi:type="dcterms:W3CDTF">2026-06-15T00:45:55Z</dcterms:modified>
</cp:coreProperties>
</file>